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73" r:id="rId13"/>
    <p:sldId id="265" r:id="rId14"/>
    <p:sldId id="266" r:id="rId15"/>
    <p:sldId id="274" r:id="rId16"/>
    <p:sldId id="275" r:id="rId17"/>
    <p:sldId id="267" r:id="rId18"/>
    <p:sldId id="268" r:id="rId19"/>
    <p:sldId id="269" r:id="rId20"/>
    <p:sldId id="270" r:id="rId21"/>
    <p:sldId id="271" r:id="rId22"/>
    <p:sldId id="272"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D471E45F-B026-44AA-9616-57E786AE80AF}">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326A986D-69A4-4AC0-AD9B-462FFC9C3F18}" cxnId="{AEE28BEF-3F73-41A5-9307-D42A450FCA17}" type="parTrans">
      <dgm:prSet/>
      <dgm:spPr/>
      <dgm:t>
        <a:bodyPr/>
        <a:lstStyle/>
        <a:p>
          <a:endParaRPr lang="en-US"/>
        </a:p>
      </dgm:t>
    </dgm:pt>
    <dgm:pt modelId="{304E70AD-39C7-4C28-BF7B-6EE91BAE97B7}" cxnId="{AEE28BEF-3F73-41A5-9307-D42A450FCA17}" type="sibTrans">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cxnId="{27611794-B6EF-4593-A560-02BF7692DC5A}" type="parTrans">
      <dgm:prSet/>
      <dgm:spPr/>
      <dgm:t>
        <a:bodyPr/>
        <a:lstStyle/>
        <a:p>
          <a:endParaRPr lang="en-US"/>
        </a:p>
      </dgm:t>
    </dgm:pt>
    <dgm:pt modelId="{AD0D1882-5210-4A49-9875-4AAC43595580}" cxnId="{27611794-B6EF-4593-A560-02BF7692DC5A}" type="sibTrans">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E6B70501-CFCB-4D4A-94BE-F63036069196}" type="presOf" srcId="{5751524B-FB67-4894-A0C5-35151E149D68}" destId="{A6BCDA7B-D633-438F-B44D-CB4D60E5C492}"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D4D063F-4481-4272-86B1-D2EA110CC162}" type="presOf" srcId="{73DB572E-062D-41AD-8033-D361B8E583DB}" destId="{0D08ED52-6744-4369-B780-916B09984775}" srcOrd="1" destOrd="0"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6C7D4BBB-EED6-4011-9FBC-87F683D5B245}" srcId="{5751524B-FB67-4894-A0C5-35151E149D68}" destId="{7B3055AA-BF7C-46D0-9A9E-60087B9F57B4}" srcOrd="1" destOrd="0" parTransId="{F772EF41-D2BB-4368-8327-B4E332165F48}" sibTransId="{B81593E2-4CAC-4783-8D2D-E9DDD236A942}"/>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AEE28BEF-3F73-41A5-9307-D42A450FCA17}" srcId="{988D96B0-D16E-4763-B393-84178CF4FF50}" destId="{D471E45F-B026-44AA-9616-57E786AE80AF}" srcOrd="0" destOrd="0" parTransId="{326A986D-69A4-4AC0-AD9B-462FFC9C3F18}" sibTransId="{304E70AD-39C7-4C28-BF7B-6EE91BAE97B7}"/>
    <dgm:cxn modelId="{DCBBD912-689F-4398-945B-50D7C906D480}" type="presOf" srcId="{65C051F6-A849-4495-A964-CD4C650B9C06}" destId="{C73DE52A-2F45-45E6-AD0E-D5BEAF609F8E}"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8CAE5A4D-0C7B-48A6-917B-0B8433D0574B}">
      <dsp:nvSpPr>
        <dsp:cNvPr id="3" name="Rectangular Callout 2"/>
        <dsp:cNvSpPr/>
      </dsp:nvSpPr>
      <dsp:spPr bwMode="white">
        <a:xfrm>
          <a:off x="7173684" y="811639"/>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7173684" y="811639"/>
        <a:ext cx="1278321" cy="3246556"/>
      </dsp:txXfrm>
    </dsp:sp>
    <dsp:sp modelId="{C73DE52A-2F45-45E6-AD0E-D5BEAF609F8E}">
      <dsp:nvSpPr>
        <dsp:cNvPr id="4" name="Rectangles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sp:txBody>
      <dsp:txXfrm>
        <a:off x="7173684" y="0"/>
        <a:ext cx="1278321" cy="811639"/>
      </dsp:txXfrm>
    </dsp:sp>
    <dsp:sp modelId="{FC0F1314-3294-4A8C-8DCE-EB53E236164C}">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5898558" y="811639"/>
        <a:ext cx="1278321" cy="3043646"/>
      </dsp:txXfrm>
    </dsp:sp>
    <dsp:sp modelId="{2AAD338D-3122-4454-9A67-16BE024D44E3}">
      <dsp:nvSpPr>
        <dsp:cNvPr id="6" name="Rectangles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4620237" y="811639"/>
        <a:ext cx="1278321" cy="2840736"/>
      </dsp:txXfrm>
    </dsp:sp>
    <dsp:sp modelId="{4C66D42D-7E6D-4563-AFDC-369C30B73F70}">
      <dsp:nvSpPr>
        <dsp:cNvPr id="8" name="Rectangles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0BB3360-A9BB-4051-A4B1-1216F82F642C}">
      <dsp:nvSpPr>
        <dsp:cNvPr id="11" name="Rectangles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2063595" y="811639"/>
        <a:ext cx="1278321" cy="2434917"/>
      </dsp:txXfrm>
    </dsp:sp>
    <dsp:sp modelId="{65257024-FAC0-4522-B139-1CC85B547BE8}">
      <dsp:nvSpPr>
        <dsp:cNvPr id="13" name="Rectangles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sp:txBody>
      <dsp:txXfrm>
        <a:off x="2063595" y="405820"/>
        <a:ext cx="1278321" cy="405820"/>
      </dsp:txXfrm>
    </dsp:sp>
    <dsp:sp modelId="{6BCCFBA6-7A43-4631-AD7F-AFB10E1E6CD7}">
      <dsp:nvSpPr>
        <dsp:cNvPr id="10" name="Rectangles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g3bc75d11b8d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 name="Google Shape;114;g3bc75d11b8d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2" name="Google Shape;14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3" name="Google Shape;1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0" name="Google Shape;1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7" name="Google Shape;1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4" name="Google Shape;2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2" name="Google Shape;21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9" name="Google Shape;21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blipFill>
          <a:blip r:embed="rId2"/>
          <a:stretch>
            <a:fillRect/>
          </a:stretch>
        </a:blip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3"/>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notesSlide" Target="../notesSlides/notesSlide14.xml"/><Relationship Id="rId10" Type="http://schemas.openxmlformats.org/officeDocument/2006/relationships/slideLayout" Target="../slideLayouts/slideLayout2.xml"/><Relationship Id="rId1" Type="http://schemas.openxmlformats.org/officeDocument/2006/relationships/diagramData" Target="../diagrams/data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3" name="Google Shape;90;p13"/>
          <p:cNvSpPr txBox="1"/>
          <p:nvPr/>
        </p:nvSpPr>
        <p:spPr>
          <a:xfrm>
            <a:off x="6285230" y="1859280"/>
            <a:ext cx="5754370" cy="22707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Mr. H. Senthil Kumar </a:t>
            </a:r>
            <a:endPar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of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4"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 Computer Science and Engineering</a:t>
            </a:r>
            <a:endPar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altLang="en-GB"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altLang="en-GB" sz="2000" b="1"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Dr.Asif Mohammed </a:t>
            </a:r>
            <a:endParaRPr lang="en-US" altLang="en-GB"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Coordinator: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Mr Sakthi S</a:t>
            </a:r>
            <a:endPar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a:t>
            </a: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r</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Md Ziaur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Rahman</a:t>
            </a:r>
            <a:endPar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5"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smtClean="0">
                <a:solidFill>
                  <a:srgbClr val="FF0000"/>
                </a:solidFill>
                <a:latin typeface="Times New Roman" panose="02020603050405020304" pitchFamily="18"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Review-4 Presentation </a:t>
            </a:r>
            <a:b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mn-ea"/>
              </a:rPr>
              <a:t>DATA  ANALYST</a:t>
            </a:r>
            <a:b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mn-ea"/>
              </a:rPr>
            </a:br>
            <a:endParaRPr lang="en-US" sz="24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custDataLst>
              <p:tags r:id="rId1"/>
            </p:custDataLst>
          </p:nvPr>
        </p:nvGraphicFramePr>
        <p:xfrm>
          <a:off x="447675" y="1765300"/>
          <a:ext cx="5552440" cy="1922780"/>
        </p:xfrm>
        <a:graphic>
          <a:graphicData uri="http://schemas.openxmlformats.org/drawingml/2006/table">
            <a:tbl>
              <a:tblPr firstRow="1" bandRow="1">
                <a:tableStyleId>{5C22544A-7EE6-4342-B048-85BDC9FD1C3A}</a:tableStyleId>
              </a:tblPr>
              <a:tblGrid>
                <a:gridCol w="1430655"/>
                <a:gridCol w="4121785"/>
              </a:tblGrid>
              <a:tr h="480695">
                <a:tc gridSpan="2">
                  <a:txBody>
                    <a:bodyPr/>
                    <a:lstStyle/>
                    <a:p>
                      <a:pPr algn="ctr"/>
                      <a:r>
                        <a:rPr lang="en-US" sz="1800"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sz="1800"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sz="1800" b="1" dirty="0" smtClean="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Chirag BA</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20221CSE0314</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8SIC01</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algn="ctr"/>
                      <a:endParaRPr lang="en-US" sz="1800"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7365D"/>
              </a:buClr>
              <a:buSzPts val="2800"/>
              <a:buFont typeface="Verdana" panose="020B0604030504040204"/>
              <a:buNone/>
            </a:pPr>
            <a:r>
              <a:rPr lang="en-US" sz="5000" b="1">
                <a:latin typeface="Times New Roman" panose="02020603050405020304"/>
                <a:ea typeface="Times New Roman" panose="02020603050405020304"/>
                <a:cs typeface="Times New Roman" panose="02020603050405020304"/>
                <a:sym typeface="Times New Roman" panose="02020603050405020304"/>
              </a:rPr>
              <a:t>C</a:t>
            </a:r>
            <a:r>
              <a:rPr lang="en-US" sz="3200" b="1">
                <a:latin typeface="Times New Roman" panose="02020603050405020304"/>
                <a:ea typeface="Times New Roman" panose="02020603050405020304"/>
                <a:cs typeface="Times New Roman" panose="02020603050405020304"/>
                <a:sym typeface="Times New Roman" panose="02020603050405020304"/>
              </a:rPr>
              <a:t>ONTENT:</a:t>
            </a:r>
            <a:endParaRPr sz="3200" b="1">
              <a:latin typeface="Times New Roman" panose="02020603050405020304"/>
              <a:ea typeface="Times New Roman" panose="02020603050405020304"/>
              <a:cs typeface="Times New Roman" panose="02020603050405020304"/>
              <a:sym typeface="Times New Roman" panose="02020603050405020304"/>
            </a:endParaRPr>
          </a:p>
        </p:txBody>
      </p:sp>
      <p:sp>
        <p:nvSpPr>
          <p:cNvPr id="97" name="Google Shape;97;p14"/>
          <p:cNvSpPr txBox="1">
            <a:spLocks noGrp="1"/>
          </p:cNvSpPr>
          <p:nvPr>
            <p:ph type="body" idx="1"/>
          </p:nvPr>
        </p:nvSpPr>
        <p:spPr>
          <a:xfrm>
            <a:off x="704516" y="1027630"/>
            <a:ext cx="10668000" cy="4271100"/>
          </a:xfrm>
          <a:prstGeom prst="rect">
            <a:avLst/>
          </a:prstGeom>
          <a:noFill/>
          <a:ln>
            <a:noFill/>
          </a:ln>
        </p:spPr>
        <p:txBody>
          <a:bodyPr spcFirstLastPara="1" wrap="square" lIns="91425" tIns="45700" rIns="91425" bIns="45700" anchor="t" anchorCtr="0">
            <a:noAutofit/>
          </a:bodyPr>
          <a:lstStyle/>
          <a:p>
            <a:pPr marL="914400" lvl="0" indent="-355600" algn="just" rtl="0">
              <a:lnSpc>
                <a:spcPct val="115000"/>
              </a:lnSpc>
              <a:spcBef>
                <a:spcPts val="0"/>
              </a:spcBef>
              <a:spcAft>
                <a:spcPts val="0"/>
              </a:spcAft>
              <a:buClr>
                <a:srgbClr val="0070C0"/>
              </a:buClr>
              <a:buSzPts val="2000"/>
              <a:buFont typeface="Times New Roman" panose="02020603050405020304"/>
              <a:buAutoNum type="arabicPeriod"/>
            </a:pPr>
            <a:r>
              <a:rPr lang="en-US" sz="2000" b="1">
                <a:solidFill>
                  <a:srgbClr val="0070C0"/>
                </a:solidFill>
                <a:latin typeface="Times New Roman" panose="02020603050405020304"/>
                <a:ea typeface="Times New Roman" panose="02020603050405020304"/>
                <a:cs typeface="Times New Roman" panose="02020603050405020304"/>
                <a:sym typeface="Times New Roman" panose="02020603050405020304"/>
              </a:rPr>
              <a:t>Company Brief.</a:t>
            </a:r>
            <a:endParaRPr lang="en-US" sz="20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Working Domain.</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Team Composition.</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Challenges Faced.</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Objectives.</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Literature Review.</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Proposed System.</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System Requirements.</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Advantages of Proposed System.</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Review Timeline.</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Github Link.</a:t>
            </a:r>
            <a:endParaRPr sz="2000">
              <a:latin typeface="Cambria" panose="02040503050406030204"/>
              <a:ea typeface="Cambria" panose="02040503050406030204"/>
              <a:cs typeface="Cambria" panose="02040503050406030204"/>
              <a:sym typeface="Cambria" panose="02040503050406030204"/>
            </a:endParaRPr>
          </a:p>
          <a:p>
            <a:pPr marL="495300" lvl="0" indent="-190500" algn="just" rtl="0">
              <a:lnSpc>
                <a:spcPct val="100000"/>
              </a:lnSpc>
              <a:spcBef>
                <a:spcPts val="0"/>
              </a:spcBef>
              <a:spcAft>
                <a:spcPts val="0"/>
              </a:spcAft>
              <a:buClr>
                <a:schemeClr val="dk1"/>
              </a:buClr>
              <a:buSzPts val="2400"/>
              <a:buFont typeface="Noto Sans Symbols"/>
              <a:buNone/>
            </a:pPr>
            <a:endParaRPr sz="200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38200" y="365126"/>
            <a:ext cx="10515600" cy="679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C</a:t>
            </a:r>
            <a:r>
              <a:rPr lang="en-US" sz="3645" b="1">
                <a:solidFill>
                  <a:srgbClr val="0070C0"/>
                </a:solidFill>
                <a:latin typeface="Times New Roman" panose="02020603050405020304"/>
                <a:ea typeface="Times New Roman" panose="02020603050405020304"/>
                <a:cs typeface="Times New Roman" panose="02020603050405020304"/>
                <a:sym typeface="Times New Roman" panose="02020603050405020304"/>
              </a:rPr>
              <a:t>ompany</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en-US" sz="5635" b="1">
                <a:solidFill>
                  <a:srgbClr val="0070C0"/>
                </a:solidFill>
                <a:latin typeface="Times New Roman" panose="02020603050405020304"/>
                <a:ea typeface="Times New Roman" panose="02020603050405020304"/>
                <a:cs typeface="Times New Roman" panose="02020603050405020304"/>
                <a:sym typeface="Times New Roman" panose="02020603050405020304"/>
              </a:rPr>
              <a:t>B</a:t>
            </a:r>
            <a:r>
              <a:rPr lang="en-US" sz="3645" b="1">
                <a:solidFill>
                  <a:srgbClr val="0070C0"/>
                </a:solidFill>
                <a:latin typeface="Times New Roman" panose="02020603050405020304"/>
                <a:ea typeface="Times New Roman" panose="02020603050405020304"/>
                <a:cs typeface="Times New Roman" panose="02020603050405020304"/>
                <a:sym typeface="Times New Roman" panose="02020603050405020304"/>
              </a:rPr>
              <a:t>rief:</a:t>
            </a:r>
            <a:endParaRPr sz="4845"/>
          </a:p>
        </p:txBody>
      </p:sp>
      <p:sp>
        <p:nvSpPr>
          <p:cNvPr id="103" name="Google Shape;103;p15"/>
          <p:cNvSpPr txBox="1">
            <a:spLocks noGrp="1"/>
          </p:cNvSpPr>
          <p:nvPr>
            <p:ph type="body" idx="1"/>
          </p:nvPr>
        </p:nvSpPr>
        <p:spPr>
          <a:xfrm>
            <a:off x="838200" y="1342518"/>
            <a:ext cx="10515600" cy="4613700"/>
          </a:xfrm>
          <a:prstGeom prst="rect">
            <a:avLst/>
          </a:prstGeom>
          <a:noFill/>
          <a:ln>
            <a:noFill/>
          </a:ln>
        </p:spPr>
        <p:txBody>
          <a:bodyPr spcFirstLastPara="1" wrap="square" lIns="91425" tIns="45700" rIns="91425" bIns="45700" anchor="t" anchorCtr="0">
            <a:normAutofit fontScale="25000" lnSpcReduction="20000"/>
          </a:bodyPr>
          <a:lstStyle/>
          <a:p>
            <a:pPr marL="0" lvl="0" indent="0" algn="just" rtl="0">
              <a:lnSpc>
                <a:spcPct val="100000"/>
              </a:lnSpc>
              <a:spcBef>
                <a:spcPts val="0"/>
              </a:spcBef>
              <a:spcAft>
                <a:spcPts val="0"/>
              </a:spcAft>
              <a:buNone/>
            </a:pPr>
            <a:r>
              <a:rPr lang="en-US" sz="9730" b="1">
                <a:latin typeface="Times New Roman" panose="02020603050405020304"/>
                <a:ea typeface="Times New Roman" panose="02020603050405020304"/>
                <a:cs typeface="Times New Roman" panose="02020603050405020304"/>
                <a:sym typeface="Times New Roman" panose="02020603050405020304"/>
              </a:rPr>
              <a:t>About Nineleaps:</a:t>
            </a:r>
            <a:endParaRPr sz="9730" b="1">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100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Nineleaps is a data and analytics consulting company that focuses on helping organizations become </a:t>
            </a:r>
            <a:r>
              <a:rPr lang="en-US" sz="9730" b="1">
                <a:latin typeface="Times New Roman" panose="02020603050405020304"/>
                <a:ea typeface="Times New Roman" panose="02020603050405020304"/>
                <a:cs typeface="Times New Roman" panose="02020603050405020304"/>
                <a:sym typeface="Times New Roman" panose="02020603050405020304"/>
              </a:rPr>
              <a:t>data-driven</a:t>
            </a:r>
            <a:r>
              <a:rPr lang="en-US" sz="9730">
                <a:latin typeface="Times New Roman" panose="02020603050405020304"/>
                <a:ea typeface="Times New Roman" panose="02020603050405020304"/>
                <a:cs typeface="Times New Roman" panose="02020603050405020304"/>
                <a:sym typeface="Times New Roman" panose="02020603050405020304"/>
              </a:rPr>
              <a:t>. The company works with clients across multiple industries to solve business problems using </a:t>
            </a:r>
            <a:r>
              <a:rPr lang="en-US" sz="9730" b="1">
                <a:latin typeface="Times New Roman" panose="02020603050405020304"/>
                <a:ea typeface="Times New Roman" panose="02020603050405020304"/>
                <a:cs typeface="Times New Roman" panose="02020603050405020304"/>
                <a:sym typeface="Times New Roman" panose="02020603050405020304"/>
              </a:rPr>
              <a:t>data analytics, artificial intelligence, and digital transformation</a:t>
            </a:r>
            <a:r>
              <a:rPr lang="en-US" sz="9730">
                <a:latin typeface="Times New Roman" panose="02020603050405020304"/>
                <a:ea typeface="Times New Roman" panose="02020603050405020304"/>
                <a:cs typeface="Times New Roman" panose="02020603050405020304"/>
                <a:sym typeface="Times New Roman" panose="02020603050405020304"/>
              </a:rPr>
              <a:t>.</a:t>
            </a:r>
            <a:endParaRPr sz="9730">
              <a:latin typeface="Times New Roman" panose="02020603050405020304"/>
              <a:ea typeface="Times New Roman" panose="02020603050405020304"/>
              <a:cs typeface="Times New Roman" panose="02020603050405020304"/>
              <a:sym typeface="Times New Roman" panose="02020603050405020304"/>
            </a:endParaRPr>
          </a:p>
          <a:p>
            <a:pPr marL="228600" lvl="0" indent="0" algn="just" rtl="0">
              <a:lnSpc>
                <a:spcPct val="100000"/>
              </a:lnSpc>
              <a:spcBef>
                <a:spcPts val="0"/>
              </a:spcBef>
              <a:spcAft>
                <a:spcPts val="0"/>
              </a:spcAft>
              <a:buNone/>
            </a:pPr>
            <a:endParaRPr sz="973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sz="9730" b="1">
                <a:latin typeface="Times New Roman" panose="02020603050405020304"/>
                <a:ea typeface="Times New Roman" panose="02020603050405020304"/>
                <a:cs typeface="Times New Roman" panose="02020603050405020304"/>
                <a:sym typeface="Times New Roman" panose="02020603050405020304"/>
              </a:rPr>
              <a:t>Services &amp; Offerings:</a:t>
            </a:r>
            <a:endParaRPr sz="9730" b="1">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100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Data Analytics &amp; Business Intelligence.</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Data Engineering &amp; Cloud Solutions.</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AI &amp; Machine Learning Solutions.</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Product Engineering &amp; Consulting.</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Digital Transformation Services.</a:t>
            </a:r>
            <a:endParaRPr sz="9730">
              <a:latin typeface="Times New Roman" panose="02020603050405020304"/>
              <a:ea typeface="Times New Roman" panose="02020603050405020304"/>
              <a:cs typeface="Times New Roman" panose="02020603050405020304"/>
              <a:sym typeface="Times New Roman" panose="02020603050405020304"/>
            </a:endParaRPr>
          </a:p>
          <a:p>
            <a:pPr marL="685800" lvl="1" indent="-87630" algn="just" rtl="0">
              <a:lnSpc>
                <a:spcPct val="100000"/>
              </a:lnSpc>
              <a:spcBef>
                <a:spcPts val="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228600" lvl="0" indent="-64135" algn="just" rtl="0">
              <a:lnSpc>
                <a:spcPct val="100000"/>
              </a:lnSpc>
              <a:spcBef>
                <a:spcPts val="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Google Shape;10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orking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D</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omain:</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16"/>
          <p:cNvSpPr txBox="1">
            <a:spLocks noGrp="1"/>
          </p:cNvSpPr>
          <p:nvPr>
            <p:ph type="body" idx="1"/>
          </p:nvPr>
        </p:nvSpPr>
        <p:spPr>
          <a:xfrm>
            <a:off x="838200" y="1434888"/>
            <a:ext cx="10515600" cy="4058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Assigned Domain / Technology:</a:t>
            </a:r>
            <a:endParaRPr sz="2400">
              <a:latin typeface="Times New Roman" panose="02020603050405020304"/>
              <a:ea typeface="Times New Roman" panose="02020603050405020304"/>
              <a:cs typeface="Times New Roman" panose="02020603050405020304"/>
              <a:sym typeface="Times New Roman" panose="02020603050405020304"/>
            </a:endParaRPr>
          </a:p>
          <a:p>
            <a:pPr marL="857250" lvl="0" indent="-257175"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During my internship, I am working in the domain of </a:t>
            </a:r>
            <a:r>
              <a:rPr lang="en-US" sz="2400" b="1">
                <a:latin typeface="Times New Roman" panose="02020603050405020304"/>
                <a:ea typeface="Times New Roman" panose="02020603050405020304"/>
                <a:cs typeface="Times New Roman" panose="02020603050405020304"/>
                <a:sym typeface="Times New Roman" panose="02020603050405020304"/>
              </a:rPr>
              <a:t>Data Analytics.</a:t>
            </a:r>
            <a:endParaRPr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0" algn="l" rtl="0">
              <a:lnSpc>
                <a:spcPct val="100000"/>
              </a:lnSpc>
              <a:spcBef>
                <a:spcPts val="0"/>
              </a:spcBef>
              <a:spcAft>
                <a:spcPts val="0"/>
              </a:spcAft>
              <a:buNone/>
            </a:pPr>
            <a:endParaRPr sz="24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Key Technologies &amp; Tools: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100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Python for data analysis.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Libraries such as Pandas, NumPy, Matplotlib / Seaborn.</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SQL for data querying.</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Data visualization and reporting tools.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Basic exposure to machine learning concepts when applicable.</a:t>
            </a:r>
            <a:endParaRPr sz="2400">
              <a:latin typeface="Times New Roman" panose="02020603050405020304"/>
              <a:ea typeface="Times New Roman" panose="02020603050405020304"/>
              <a:cs typeface="Times New Roman" panose="02020603050405020304"/>
              <a:sym typeface="Times New Roman" panose="02020603050405020304"/>
            </a:endParaRPr>
          </a:p>
          <a:p>
            <a:pPr marL="228600" lvl="0" indent="-104140" algn="l" rtl="0">
              <a:lnSpc>
                <a:spcPct val="100000"/>
              </a:lnSpc>
              <a:spcBef>
                <a:spcPts val="0"/>
              </a:spcBef>
              <a:spcAft>
                <a:spcPts val="0"/>
              </a:spcAft>
              <a:buClr>
                <a:schemeClr val="dk1"/>
              </a:buClr>
              <a:buSzPts val="2800"/>
              <a:buNone/>
            </a:pP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11" name="Google Shape;11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orking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D</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omain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ontinued…</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 name="Google Shape;117;p17"/>
          <p:cNvSpPr txBox="1">
            <a:spLocks noGrp="1"/>
          </p:cNvSpPr>
          <p:nvPr>
            <p:ph type="body" idx="1"/>
          </p:nvPr>
        </p:nvSpPr>
        <p:spPr>
          <a:xfrm>
            <a:off x="838200" y="1387915"/>
            <a:ext cx="10515600" cy="40581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100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Importance of the Domain:</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Helps organizations make informed business decisions.</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Identifies trends, patterns, and insights from data.</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Improves operational efficiency and performance.</a:t>
            </a:r>
            <a:endParaRPr sz="2400">
              <a:latin typeface="Times New Roman" panose="02020603050405020304"/>
              <a:ea typeface="Times New Roman" panose="02020603050405020304"/>
              <a:cs typeface="Times New Roman" panose="02020603050405020304"/>
              <a:sym typeface="Times New Roman" panose="02020603050405020304"/>
            </a:endParaRPr>
          </a:p>
          <a:p>
            <a:pPr marL="685800" lvl="0" indent="-57150" algn="l" rtl="0">
              <a:lnSpc>
                <a:spcPct val="100000"/>
              </a:lnSpc>
              <a:spcBef>
                <a:spcPts val="1000"/>
              </a:spcBef>
              <a:spcAft>
                <a:spcPts val="0"/>
              </a:spcAft>
              <a:buClr>
                <a:schemeClr val="dk1"/>
              </a:buClr>
              <a:buSzPts val="2800"/>
              <a:buNone/>
            </a:pP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18" name="Google Shape;118;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T</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eam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omposition:</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4" name="Google Shape;124;p18"/>
          <p:cNvSpPr txBox="1">
            <a:spLocks noGrp="1"/>
          </p:cNvSpPr>
          <p:nvPr>
            <p:ph type="body" idx="1"/>
          </p:nvPr>
        </p:nvSpPr>
        <p:spPr>
          <a:xfrm>
            <a:off x="838200" y="1403572"/>
            <a:ext cx="10515600" cy="4058100"/>
          </a:xfrm>
          <a:prstGeom prst="rect">
            <a:avLst/>
          </a:prstGeom>
          <a:noFill/>
          <a:ln>
            <a:noFill/>
          </a:ln>
        </p:spPr>
        <p:txBody>
          <a:bodyPr spcFirstLastPara="1" wrap="square" lIns="91425" tIns="45700" rIns="91425" bIns="45700" anchor="t" anchorCtr="0">
            <a:normAutofit/>
          </a:bodyPr>
          <a:lstStyle/>
          <a:p>
            <a:pPr marL="457200" lvl="0" indent="0" algn="l" rtl="0">
              <a:lnSpc>
                <a:spcPct val="9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Team Structure:</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Team of </a:t>
            </a:r>
            <a:r>
              <a:rPr lang="en-US" sz="2400" b="1">
                <a:latin typeface="Times New Roman" panose="02020603050405020304"/>
                <a:ea typeface="Times New Roman" panose="02020603050405020304"/>
                <a:cs typeface="Times New Roman" panose="02020603050405020304"/>
                <a:sym typeface="Times New Roman" panose="02020603050405020304"/>
              </a:rPr>
              <a:t>5 members</a:t>
            </a:r>
            <a:r>
              <a:rPr lang="en-US" sz="2400">
                <a:latin typeface="Times New Roman" panose="02020603050405020304"/>
                <a:ea typeface="Times New Roman" panose="02020603050405020304"/>
                <a:cs typeface="Times New Roman" panose="02020603050405020304"/>
                <a:sym typeface="Times New Roman" panose="02020603050405020304"/>
              </a:rPr>
              <a:t> collaborating from </a:t>
            </a:r>
            <a:r>
              <a:rPr lang="en-US" sz="2400" b="1">
                <a:latin typeface="Times New Roman" panose="02020603050405020304"/>
                <a:ea typeface="Times New Roman" panose="02020603050405020304"/>
                <a:cs typeface="Times New Roman" panose="02020603050405020304"/>
                <a:sym typeface="Times New Roman" panose="02020603050405020304"/>
              </a:rPr>
              <a:t>different colleges.</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Project managed under the guidance of </a:t>
            </a:r>
            <a:r>
              <a:rPr lang="en-US" sz="2400" b="1">
                <a:latin typeface="Times New Roman" panose="02020603050405020304"/>
                <a:ea typeface="Times New Roman" panose="02020603050405020304"/>
                <a:cs typeface="Times New Roman" panose="02020603050405020304"/>
                <a:sym typeface="Times New Roman" panose="02020603050405020304"/>
              </a:rPr>
              <a:t>Project Manager – Prachi Gupta.</a:t>
            </a:r>
            <a:endParaRPr sz="24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Team Coordination &amp; Workflow:</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Daily Stand up meetings where task are assigned. </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Task tracker to update daily progress.</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Stand down to give a report of tasks completed.</a:t>
            </a: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25" name="Google Shape;12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hallenges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F</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aced:</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1" name="Google Shape;131;p19"/>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Understanding real-world datasets.</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Cleaning and filtering real world data . </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Adapting to professional work culture.</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Learning new tools and technologies within a short time.</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Time management to complete the daily stand up tasks by the end of the day.</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O</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bjective:</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Google Shape;138;p20"/>
          <p:cNvSpPr txBox="1">
            <a:spLocks noGrp="1"/>
          </p:cNvSpPr>
          <p:nvPr>
            <p:ph type="body" idx="1"/>
          </p:nvPr>
        </p:nvSpPr>
        <p:spPr>
          <a:xfrm>
            <a:off x="838200" y="1184376"/>
            <a:ext cx="10515600" cy="4395900"/>
          </a:xfrm>
          <a:prstGeom prst="rect">
            <a:avLst/>
          </a:prstGeom>
          <a:noFill/>
          <a:ln>
            <a:noFill/>
          </a:ln>
        </p:spPr>
        <p:txBody>
          <a:bodyPr spcFirstLastPara="1" wrap="square" lIns="91425" tIns="45700" rIns="91425" bIns="45700" anchor="t" anchorCtr="0">
            <a:normAutofit lnSpcReduction="20000"/>
          </a:bodyPr>
          <a:lstStyle/>
          <a:p>
            <a:pPr marL="457200" lvl="0" indent="0" algn="l" rtl="0">
              <a:lnSpc>
                <a:spcPct val="90000"/>
              </a:lnSpc>
              <a:spcBef>
                <a:spcPts val="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Primary Objective:</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gain hands-on experience in data analytics.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understand real-world business problems and datasets.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apply theoretical knowledge to practical use cases.</a:t>
            </a:r>
            <a:endParaRPr>
              <a:latin typeface="Times New Roman" panose="02020603050405020304"/>
              <a:ea typeface="Times New Roman" panose="02020603050405020304"/>
              <a:cs typeface="Times New Roman" panose="02020603050405020304"/>
              <a:sym typeface="Times New Roman" panose="02020603050405020304"/>
            </a:endParaRPr>
          </a:p>
          <a:p>
            <a:pPr marL="685800" lvl="0" indent="0" algn="l" rtl="0">
              <a:lnSpc>
                <a:spcPct val="90000"/>
              </a:lnSpc>
              <a:spcBef>
                <a:spcPts val="100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Outcome:</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100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Improved technical and analytical skills.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Better understanding of industry-level workflows.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Exposure to professional project development practices.</a:t>
            </a:r>
            <a:endParaRPr>
              <a:latin typeface="Times New Roman" panose="02020603050405020304"/>
              <a:ea typeface="Times New Roman" panose="02020603050405020304"/>
              <a:cs typeface="Times New Roman" panose="02020603050405020304"/>
              <a:sym typeface="Times New Roman" panose="02020603050405020304"/>
            </a:endParaRPr>
          </a:p>
          <a:p>
            <a:pPr marL="685800" lvl="0" indent="-50800" algn="l" rtl="0">
              <a:lnSpc>
                <a:spcPct val="90000"/>
              </a:lnSpc>
              <a:spcBef>
                <a:spcPts val="1000"/>
              </a:spcBef>
              <a:spcAft>
                <a:spcPts val="0"/>
              </a:spcAft>
              <a:buClr>
                <a:schemeClr val="dk1"/>
              </a:buClr>
              <a:buSzPts val="28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499745" y="0"/>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L</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iterature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eview:</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5" name="Google Shape;145;p21"/>
          <p:cNvSpPr txBox="1">
            <a:spLocks noGrp="1"/>
          </p:cNvSpPr>
          <p:nvPr>
            <p:ph type="body" idx="1"/>
          </p:nvPr>
        </p:nvSpPr>
        <p:spPr>
          <a:xfrm>
            <a:off x="499745" y="819150"/>
            <a:ext cx="10620375" cy="4521200"/>
          </a:xfrm>
          <a:prstGeom prst="rect">
            <a:avLst/>
          </a:prstGeom>
          <a:noFill/>
          <a:ln>
            <a:noFill/>
          </a:ln>
        </p:spPr>
        <p:txBody>
          <a:bodyPr spcFirstLastPara="1" wrap="square" lIns="91425" tIns="45700" rIns="91425" bIns="45700" anchor="t" anchorCtr="0">
            <a:noAutofit/>
          </a:bodyPr>
          <a:lstStyle/>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Studied Relational Database concepts using ClassicModels dataset </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SQL Assignment Queries Document…</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Applied SQL fundamentals (SELECT, WHERE, GROUP BY, HAVING)</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Implemented Joins (INNER, LEFT) for multi-table analysis</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Used Aggregate functions (SUM, AVG, COUNT, MIN, MAX)</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Worked with Subqueries &amp; Correlated Subqueries</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Implemented CTE (Common Table Expressions)</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Used Window Functions (RANK, DENSE_RANK, LAG, ROW_NUMBER)</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Performed YoY &amp; MoM growth analysis</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5260" y="0"/>
            <a:ext cx="10515600" cy="1325563"/>
          </a:xfrm>
        </p:spPr>
        <p:txBody>
          <a:bodyPr/>
          <a:p>
            <a:r>
              <a:rPr lang="en-US" sz="3500" b="1">
                <a:solidFill>
                  <a:srgbClr val="2F5496"/>
                </a:solidFill>
                <a:latin typeface="Times New Roman" panose="02020603050405020304"/>
                <a:ea typeface="Times New Roman" panose="02020603050405020304"/>
                <a:cs typeface="Times New Roman" panose="02020603050405020304"/>
                <a:sym typeface="Times New Roman" panose="02020603050405020304"/>
              </a:rPr>
              <a:t>Literature Review:</a:t>
            </a:r>
            <a:endParaRPr lang="en-GB" altLang="en-US" sz="3500"/>
          </a:p>
        </p:txBody>
      </p:sp>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6" name="Text Box 5"/>
          <p:cNvSpPr txBox="1"/>
          <p:nvPr/>
        </p:nvSpPr>
        <p:spPr>
          <a:xfrm>
            <a:off x="593725" y="1325880"/>
            <a:ext cx="8861425" cy="3444240"/>
          </a:xfrm>
          <a:prstGeom prst="rect">
            <a:avLst/>
          </a:prstGeom>
          <a:noFill/>
        </p:spPr>
        <p:txBody>
          <a:bodyPr wrap="square" rtlCol="0">
            <a:noAutofit/>
          </a:bodyPr>
          <a:p>
            <a:pPr marL="285750" indent="-285750">
              <a:lnSpc>
                <a:spcPct val="150000"/>
              </a:lnSpc>
              <a:buFont typeface="Arial" panose="020B0604020202020204" pitchFamily="34" charset="0"/>
              <a:buChar char="•"/>
            </a:pPr>
            <a:r>
              <a:rPr lang="en-US" altLang="en-GB" sz="2000" b="1">
                <a:latin typeface="Times New Roman" panose="02020603050405020304" pitchFamily="18" charset="0"/>
                <a:cs typeface="Times New Roman" panose="02020603050405020304" pitchFamily="18" charset="0"/>
              </a:rPr>
              <a:t>Solved complex real-world problems using Python</a:t>
            </a:r>
            <a:endParaRPr lang="en-US" altLang="en-GB" sz="2000" b="1">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GB" sz="2000" b="1">
                <a:latin typeface="Times New Roman" panose="02020603050405020304" pitchFamily="18" charset="0"/>
                <a:cs typeface="Times New Roman" panose="02020603050405020304" pitchFamily="18" charset="0"/>
              </a:rPr>
              <a:t>Used dictionaries to efficiently organize and process data</a:t>
            </a:r>
            <a:endParaRPr lang="en-US" altLang="en-GB" sz="2000" b="1">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GB" sz="2000" b="1">
                <a:latin typeface="Times New Roman" panose="02020603050405020304" pitchFamily="18" charset="0"/>
                <a:cs typeface="Times New Roman" panose="02020603050405020304" pitchFamily="18" charset="0"/>
              </a:rPr>
              <a:t>Performed operations on dictionaries to extract key insights</a:t>
            </a:r>
            <a:endParaRPr lang="en-US" altLang="en-GB" sz="2000" b="1">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GB" sz="2000" b="1">
                <a:latin typeface="Times New Roman" panose="02020603050405020304" pitchFamily="18" charset="0"/>
                <a:cs typeface="Times New Roman" panose="02020603050405020304" pitchFamily="18" charset="0"/>
              </a:rPr>
              <a:t>Generated meaningful business insights from structured data</a:t>
            </a:r>
            <a:endParaRPr lang="en-US" altLang="en-GB" sz="2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593090" y="155575"/>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roposed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3" name="Google Shape;153;p22"/>
          <p:cNvSpPr txBox="1">
            <a:spLocks noGrp="1"/>
          </p:cNvSpPr>
          <p:nvPr>
            <p:ph type="body" idx="1"/>
          </p:nvPr>
        </p:nvSpPr>
        <p:spPr>
          <a:xfrm>
            <a:off x="838200" y="1539761"/>
            <a:ext cx="10667400" cy="3999230"/>
          </a:xfrm>
          <a:prstGeom prst="rect">
            <a:avLst/>
          </a:prstGeom>
          <a:noFill/>
          <a:ln>
            <a:noFill/>
          </a:ln>
        </p:spPr>
        <p:txBody>
          <a:bodyPr spcFirstLastPara="1" wrap="square" lIns="91425" tIns="45700" rIns="91425" bIns="45700" anchor="ctr" anchorCtr="0">
            <a:spAutoFit/>
          </a:bodyPr>
          <a:lstStyle/>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SQL-based Business Analytics System</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Extracts insights from relational sales database</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Performs Customer &amp; Employee performance analysis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Calculates Sales trends &amp; growth metrics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Ranks customers, employees &amp; offices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Identifies underperforming &amp; top-performing entities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Uses optimized queries for accurate analysis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394970" y="97155"/>
            <a:ext cx="10515600" cy="819241"/>
          </a:xfrm>
          <a:prstGeom prst="rect">
            <a:avLst/>
          </a:prstGeom>
          <a:noFill/>
          <a:ln>
            <a:noFill/>
          </a:ln>
        </p:spPr>
        <p:txBody>
          <a:bodyPr spcFirstLastPara="1" wrap="square" lIns="91425" tIns="45700" rIns="91425" bIns="45700" anchor="ctr" anchorCtr="0">
            <a:normAutofit fontScale="90000"/>
          </a:bodyPr>
          <a:lstStyle/>
          <a:p>
            <a:pPr marL="15240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roblem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tatement:</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p23"/>
          <p:cNvSpPr txBox="1">
            <a:spLocks noGrp="1"/>
          </p:cNvSpPr>
          <p:nvPr>
            <p:ph type="body" idx="1"/>
          </p:nvPr>
        </p:nvSpPr>
        <p:spPr>
          <a:xfrm>
            <a:off x="713740" y="851627"/>
            <a:ext cx="10515600" cy="4058194"/>
          </a:xfrm>
          <a:prstGeom prst="rect">
            <a:avLst/>
          </a:prstGeom>
          <a:noFill/>
          <a:ln>
            <a:noFill/>
          </a:ln>
        </p:spPr>
        <p:txBody>
          <a:bodyPr spcFirstLastPara="1" wrap="square" lIns="91425" tIns="45700" rIns="91425" bIns="45700" anchor="t" anchorCtr="0">
            <a:noAutofit/>
          </a:bodyPr>
          <a:lstStyle/>
          <a:p>
            <a:pPr marL="914400" lvl="0" indent="-381000" algn="just" rtl="0">
              <a:lnSpc>
                <a:spcPct val="130000"/>
              </a:lnSpc>
              <a:spcBef>
                <a:spcPts val="0"/>
              </a:spcBef>
              <a:spcAft>
                <a:spcPts val="0"/>
              </a:spcAft>
              <a:buSzPts val="2400"/>
              <a:buFont typeface="Times New Roman" panose="02020603050405020304"/>
              <a:buAutoNum type="arabicPeriod"/>
            </a:pPr>
            <a:r>
              <a:rPr lang="en-US" altLang="en-GB" sz="1800" b="1" dirty="0">
                <a:latin typeface="Times New Roman" panose="02020603050405020304"/>
                <a:ea typeface="Times New Roman" panose="02020603050405020304"/>
                <a:cs typeface="Times New Roman" panose="02020603050405020304"/>
                <a:sym typeface="Times New Roman" panose="02020603050405020304"/>
              </a:rPr>
              <a:t>LLMs generate technical content, but evaluating their responses lacks a structured and standardized approach</a:t>
            </a: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130000"/>
              </a:lnSpc>
              <a:spcBef>
                <a:spcPts val="0"/>
              </a:spcBef>
              <a:spcAft>
                <a:spcPts val="0"/>
              </a:spcAft>
              <a:buSzPts val="2400"/>
              <a:buFont typeface="Times New Roman" panose="02020603050405020304"/>
              <a:buAutoNum type="arabicPeriod"/>
            </a:pPr>
            <a:r>
              <a:rPr lang="en-US" altLang="en-GB" sz="1800" b="1" dirty="0">
                <a:latin typeface="Times New Roman" panose="02020603050405020304"/>
                <a:ea typeface="Times New Roman" panose="02020603050405020304"/>
                <a:cs typeface="Times New Roman" panose="02020603050405020304"/>
                <a:sym typeface="Times New Roman" panose="02020603050405020304"/>
              </a:rPr>
              <a:t>Need to assess both writing quality (clarity, structure, tone) and non-writing quality (accuracy, completeness, factual correctness)</a:t>
            </a: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130000"/>
              </a:lnSpc>
              <a:spcBef>
                <a:spcPts val="0"/>
              </a:spcBef>
              <a:spcAft>
                <a:spcPts val="0"/>
              </a:spcAft>
              <a:buSzPts val="2400"/>
              <a:buFont typeface="Times New Roman" panose="02020603050405020304"/>
              <a:buAutoNum type="arabicPeriod"/>
            </a:pPr>
            <a:r>
              <a:rPr lang="en-US" altLang="en-GB" sz="1800" b="1" dirty="0">
                <a:latin typeface="Times New Roman" panose="02020603050405020304"/>
                <a:ea typeface="Times New Roman" panose="02020603050405020304"/>
                <a:cs typeface="Times New Roman" panose="02020603050405020304"/>
                <a:sym typeface="Times New Roman" panose="02020603050405020304"/>
              </a:rPr>
              <a:t>Defined detailed rubrics categorized as writing and non-writing, with critical and non-critical importance levels</a:t>
            </a: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130000"/>
              </a:lnSpc>
              <a:spcBef>
                <a:spcPts val="0"/>
              </a:spcBef>
              <a:spcAft>
                <a:spcPts val="0"/>
              </a:spcAft>
              <a:buSzPts val="2400"/>
              <a:buFont typeface="Times New Roman" panose="02020603050405020304"/>
              <a:buAutoNum type="arabicPeriod"/>
            </a:pPr>
            <a:r>
              <a:rPr lang="en-US" altLang="en-GB" sz="1800" b="1" dirty="0">
                <a:latin typeface="Times New Roman" panose="02020603050405020304"/>
                <a:ea typeface="Times New Roman" panose="02020603050405020304"/>
                <a:cs typeface="Times New Roman" panose="02020603050405020304"/>
                <a:sym typeface="Times New Roman" panose="02020603050405020304"/>
              </a:rPr>
              <a:t>Challenge in objectively scoring responses and comparing outputs across models (Gemini, GPT-5, Claude)</a:t>
            </a: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130000"/>
              </a:lnSpc>
              <a:spcBef>
                <a:spcPts val="0"/>
              </a:spcBef>
              <a:spcAft>
                <a:spcPts val="0"/>
              </a:spcAft>
              <a:buSzPts val="2400"/>
              <a:buFont typeface="Times New Roman" panose="02020603050405020304"/>
              <a:buAutoNum type="arabicPeriod"/>
            </a:pPr>
            <a:r>
              <a:rPr lang="en-US" altLang="en-GB" sz="1800" b="1" dirty="0">
                <a:latin typeface="Times New Roman" panose="02020603050405020304"/>
                <a:ea typeface="Times New Roman" panose="02020603050405020304"/>
                <a:cs typeface="Times New Roman" panose="02020603050405020304"/>
                <a:sym typeface="Times New Roman" panose="02020603050405020304"/>
              </a:rPr>
              <a:t>Absence of a benchmark response led to the need for a “Golden Response” to represent the ideal output</a:t>
            </a: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a:p>
            <a:pPr marL="533400" lvl="0" indent="0" algn="just" rtl="0">
              <a:lnSpc>
                <a:spcPct val="90000"/>
              </a:lnSpc>
              <a:spcBef>
                <a:spcPts val="0"/>
              </a:spcBef>
              <a:spcAft>
                <a:spcPts val="0"/>
              </a:spcAft>
              <a:buSzPts val="2400"/>
              <a:buFont typeface="Times New Roman" panose="02020603050405020304"/>
              <a:buNone/>
            </a:pP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a:p>
            <a:pPr marL="533400" lvl="0" indent="0" algn="just" rtl="0">
              <a:lnSpc>
                <a:spcPct val="90000"/>
              </a:lnSpc>
              <a:spcBef>
                <a:spcPts val="0"/>
              </a:spcBef>
              <a:spcAft>
                <a:spcPts val="0"/>
              </a:spcAft>
              <a:buSzPts val="2400"/>
              <a:buFont typeface="Times New Roman" panose="02020603050405020304"/>
              <a:buNone/>
            </a:pPr>
            <a:r>
              <a:rPr lang="en-US" altLang="en-GB" sz="1800" b="1" dirty="0">
                <a:latin typeface="Times New Roman" panose="02020603050405020304"/>
                <a:ea typeface="Times New Roman" panose="02020603050405020304"/>
                <a:cs typeface="Times New Roman" panose="02020603050405020304"/>
                <a:sym typeface="Times New Roman" panose="02020603050405020304"/>
              </a:rPr>
              <a:t>Goal:</a:t>
            </a: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a:p>
            <a:pPr marL="533400" lvl="0" indent="0" algn="just" rtl="0">
              <a:lnSpc>
                <a:spcPct val="90000"/>
              </a:lnSpc>
              <a:spcBef>
                <a:spcPts val="0"/>
              </a:spcBef>
              <a:spcAft>
                <a:spcPts val="0"/>
              </a:spcAft>
              <a:buSzPts val="2400"/>
              <a:buFont typeface="Times New Roman" panose="02020603050405020304"/>
              <a:buNone/>
            </a:pPr>
            <a:r>
              <a:rPr lang="en-US" altLang="en-GB" sz="1800" b="1" dirty="0">
                <a:latin typeface="Times New Roman" panose="02020603050405020304"/>
                <a:ea typeface="Times New Roman" panose="02020603050405020304"/>
                <a:cs typeface="Times New Roman" panose="02020603050405020304"/>
                <a:sym typeface="Times New Roman" panose="02020603050405020304"/>
              </a:rPr>
              <a:t>To design a structured framework using rubrics to evaluate the quality of LLM-generated technical responses</a:t>
            </a: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a:p>
            <a:pPr marL="533400" lvl="0" indent="0" algn="just" rtl="0">
              <a:lnSpc>
                <a:spcPct val="90000"/>
              </a:lnSpc>
              <a:spcBef>
                <a:spcPts val="0"/>
              </a:spcBef>
              <a:spcAft>
                <a:spcPts val="0"/>
              </a:spcAft>
              <a:buSzPts val="2400"/>
              <a:buFont typeface="Times New Roman" panose="02020603050405020304"/>
              <a:buNone/>
            </a:pPr>
            <a:r>
              <a:rPr lang="en-US" altLang="en-GB" sz="1800" b="1" dirty="0">
                <a:latin typeface="Times New Roman" panose="02020603050405020304"/>
                <a:ea typeface="Times New Roman" panose="02020603050405020304"/>
                <a:cs typeface="Times New Roman" panose="02020603050405020304"/>
                <a:sym typeface="Times New Roman" panose="02020603050405020304"/>
              </a:rPr>
              <a:t>To compare multiple LLMs and establish a benchmark (“Golden Response”) for ideal output quality</a:t>
            </a:r>
            <a:endParaRPr lang="en-US" altLang="en-GB" sz="18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itle 10"/>
          <p:cNvSpPr>
            <a:spLocks noGrp="1"/>
          </p:cNvSpPr>
          <p:nvPr>
            <p:ph type="title"/>
          </p:nvPr>
        </p:nvSpPr>
        <p:spPr/>
        <p:txBody>
          <a:bodyPr/>
          <a:p>
            <a:endParaRPr lang="en-GB" altLang="en-US"/>
          </a:p>
        </p:txBody>
      </p:sp>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12" name="Text Placeholder 11"/>
          <p:cNvSpPr>
            <a:spLocks noGrp="1"/>
          </p:cNvSpPr>
          <p:nvPr>
            <p:ph type="body" idx="1"/>
          </p:nvPr>
        </p:nvSpPr>
        <p:spPr/>
        <p:txBody>
          <a:bodyPr/>
          <a:p>
            <a:endParaRPr lang="en-GB" altLang="en-US"/>
          </a:p>
        </p:txBody>
      </p:sp>
      <p:sp>
        <p:nvSpPr>
          <p:cNvPr id="6" name="Text Box 5"/>
          <p:cNvSpPr txBox="1"/>
          <p:nvPr/>
        </p:nvSpPr>
        <p:spPr>
          <a:xfrm>
            <a:off x="489585" y="134620"/>
            <a:ext cx="6589395" cy="1198880"/>
          </a:xfrm>
          <a:prstGeom prst="rect">
            <a:avLst/>
          </a:prstGeom>
          <a:noFill/>
        </p:spPr>
        <p:txBody>
          <a:bodyPr wrap="square" rtlCol="0">
            <a:spAutoFit/>
          </a:bodyPr>
          <a:p>
            <a:r>
              <a:rPr lang="en-US" sz="36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sz="36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endParaRPr lang="en-GB" altLang="en-US" sz="3600"/>
          </a:p>
        </p:txBody>
      </p:sp>
      <p:pic>
        <p:nvPicPr>
          <p:cNvPr id="7" name="image1.png"/>
          <p:cNvPicPr preferRelativeResize="0"/>
          <p:nvPr/>
        </p:nvPicPr>
        <p:blipFill>
          <a:blip r:embed="rId1"/>
          <a:srcRect/>
          <a:stretch>
            <a:fillRect/>
          </a:stretch>
        </p:blipFill>
        <p:spPr>
          <a:xfrm>
            <a:off x="370840" y="876300"/>
            <a:ext cx="4874260" cy="3300095"/>
          </a:xfrm>
          <a:prstGeom prst="rect">
            <a:avLst/>
          </a:prstGeom>
        </p:spPr>
      </p:pic>
      <p:pic>
        <p:nvPicPr>
          <p:cNvPr id="10" name="image3.png"/>
          <p:cNvPicPr preferRelativeResize="0"/>
          <p:nvPr>
            <p:ph type="pic" idx="2"/>
          </p:nvPr>
        </p:nvPicPr>
        <p:blipFill>
          <a:blip r:embed="rId2"/>
          <a:srcRect l="22792" r="22792"/>
          <a:stretch>
            <a:fillRect/>
          </a:stretch>
        </p:blipFill>
        <p:spPr>
          <a:xfrm>
            <a:off x="6096635" y="690245"/>
            <a:ext cx="5257165" cy="34855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Title 9"/>
          <p:cNvSpPr>
            <a:spLocks noGrp="1"/>
          </p:cNvSpPr>
          <p:nvPr>
            <p:ph type="title"/>
          </p:nvPr>
        </p:nvSpPr>
        <p:spPr/>
        <p:txBody>
          <a:bodyPr/>
          <a:p>
            <a:endParaRPr lang="en-GB" altLang="en-US"/>
          </a:p>
        </p:txBody>
      </p:sp>
      <p:sp>
        <p:nvSpPr>
          <p:cNvPr id="5" name="Slide Number Placeholder 4"/>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6" name="image4.png"/>
          <p:cNvPicPr preferRelativeResize="0"/>
          <p:nvPr/>
        </p:nvPicPr>
        <p:blipFill>
          <a:blip r:embed="rId1"/>
          <a:srcRect/>
          <a:stretch>
            <a:fillRect/>
          </a:stretch>
        </p:blipFill>
        <p:spPr>
          <a:xfrm>
            <a:off x="0" y="167005"/>
            <a:ext cx="5943600" cy="2811780"/>
          </a:xfrm>
          <a:prstGeom prst="rect">
            <a:avLst/>
          </a:prstGeom>
        </p:spPr>
      </p:pic>
      <p:pic>
        <p:nvPicPr>
          <p:cNvPr id="9" name="image5.png"/>
          <p:cNvPicPr preferRelativeResize="0"/>
          <p:nvPr>
            <p:ph type="pic" idx="2"/>
          </p:nvPr>
        </p:nvPicPr>
        <p:blipFill>
          <a:blip r:embed="rId2"/>
          <a:srcRect l="22792" r="22792"/>
          <a:stretch>
            <a:fillRect/>
          </a:stretch>
        </p:blipFill>
        <p:spPr>
          <a:xfrm>
            <a:off x="6241415" y="302260"/>
            <a:ext cx="5850255" cy="2676525"/>
          </a:xfrm>
          <a:prstGeom prst="rect">
            <a:avLst/>
          </a:prstGeom>
        </p:spPr>
      </p:pic>
      <p:pic>
        <p:nvPicPr>
          <p:cNvPr id="12" name="image2.png"/>
          <p:cNvPicPr preferRelativeResize="0"/>
          <p:nvPr/>
        </p:nvPicPr>
        <p:blipFill>
          <a:blip r:embed="rId3"/>
          <a:srcRect/>
          <a:stretch>
            <a:fillRect/>
          </a:stretch>
        </p:blipFill>
        <p:spPr>
          <a:xfrm>
            <a:off x="2999740" y="3115945"/>
            <a:ext cx="6410960" cy="28441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313055" y="142875"/>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equirements:</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24"/>
          <p:cNvSpPr txBox="1">
            <a:spLocks noGrp="1"/>
          </p:cNvSpPr>
          <p:nvPr>
            <p:ph type="body" idx="1"/>
          </p:nvPr>
        </p:nvSpPr>
        <p:spPr>
          <a:xfrm>
            <a:off x="838200" y="962025"/>
            <a:ext cx="10515600" cy="4280535"/>
          </a:xfrm>
          <a:prstGeom prst="rect">
            <a:avLst/>
          </a:prstGeom>
          <a:noFill/>
          <a:ln>
            <a:noFill/>
          </a:ln>
        </p:spPr>
        <p:txBody>
          <a:bodyPr spcFirstLastPara="1" wrap="square" lIns="91425" tIns="45700" rIns="91425" bIns="45700" anchor="t" anchorCtr="0">
            <a:noAutofit/>
          </a:bodyPr>
          <a:lstStyle/>
          <a:p>
            <a:pPr marL="457200" lvl="0" indent="0" algn="l" rtl="0">
              <a:lnSpc>
                <a:spcPct val="70000"/>
              </a:lnSpc>
              <a:spcBef>
                <a:spcPts val="0"/>
              </a:spcBef>
              <a:spcAft>
                <a:spcPts val="0"/>
              </a:spcAft>
              <a:buClr>
                <a:schemeClr val="dk1"/>
              </a:buClr>
              <a:buSzPts val="2800"/>
              <a:buNone/>
            </a:pPr>
            <a:r>
              <a:rPr lang="en-US" altLang="en-GB" sz="2000" b="1">
                <a:latin typeface="Times New Roman" panose="02020603050405020304"/>
                <a:ea typeface="Times New Roman" panose="02020603050405020304"/>
                <a:cs typeface="Times New Roman" panose="02020603050405020304"/>
                <a:sym typeface="Times New Roman" panose="02020603050405020304"/>
              </a:rPr>
              <a:t>Hardware</a:t>
            </a:r>
            <a:r>
              <a:rPr lang="en-US" altLang="en-GB" sz="2000">
                <a:latin typeface="Times New Roman" panose="02020603050405020304"/>
                <a:ea typeface="Times New Roman" panose="02020603050405020304"/>
                <a:cs typeface="Times New Roman" panose="02020603050405020304"/>
                <a:sym typeface="Times New Roman" panose="02020603050405020304"/>
              </a:rPr>
              <a:t>:</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4GB RAM minimum</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Intel i3 or higher processor</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r>
              <a:rPr lang="en-US" altLang="en-GB" sz="2000" b="1">
                <a:latin typeface="Times New Roman" panose="02020603050405020304"/>
                <a:ea typeface="Times New Roman" panose="02020603050405020304"/>
                <a:cs typeface="Times New Roman" panose="02020603050405020304"/>
                <a:sym typeface="Times New Roman" panose="02020603050405020304"/>
              </a:rPr>
              <a:t>Software:</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MySQL Server</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MySQL Workbench</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ClassicModels Database</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r>
              <a:rPr lang="en-US" altLang="en-GB" sz="2000" b="1">
                <a:latin typeface="Times New Roman" panose="02020603050405020304"/>
                <a:ea typeface="Times New Roman" panose="02020603050405020304"/>
                <a:cs typeface="Times New Roman" panose="02020603050405020304"/>
                <a:sym typeface="Times New Roman" panose="02020603050405020304"/>
              </a:rPr>
              <a:t>Technical Skills:</a:t>
            </a:r>
            <a:endParaRPr lang="en-US" altLang="en-GB" sz="2000" b="1">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SQL fundamentals</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Joins, Aggregations</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Subqueries &amp; CTE</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Window Functions</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314660" y="81422"/>
            <a:ext cx="10515600" cy="819300"/>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A</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dvantages </a:t>
            </a:r>
            <a:r>
              <a:rPr lang="en-US" sz="3645" b="1">
                <a:solidFill>
                  <a:srgbClr val="2F5496"/>
                </a:solidFill>
                <a:latin typeface="Times New Roman" panose="02020603050405020304"/>
                <a:ea typeface="Times New Roman" panose="02020603050405020304"/>
                <a:cs typeface="Times New Roman" panose="02020603050405020304"/>
                <a:sym typeface="Times New Roman" panose="02020603050405020304"/>
              </a:rPr>
              <a:t>o</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f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roposed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3" name="Google Shape;1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74" name="Google Shape;174;p25"/>
          <p:cNvSpPr txBox="1">
            <a:spLocks noGrp="1"/>
          </p:cNvSpPr>
          <p:nvPr>
            <p:ph type="body" idx="1"/>
          </p:nvPr>
        </p:nvSpPr>
        <p:spPr>
          <a:xfrm>
            <a:off x="-82550" y="997585"/>
            <a:ext cx="10161905" cy="4512310"/>
          </a:xfrm>
          <a:prstGeom prst="rect">
            <a:avLst/>
          </a:prstGeom>
          <a:noFill/>
          <a:ln>
            <a:noFill/>
          </a:ln>
        </p:spPr>
        <p:txBody>
          <a:bodyPr spcFirstLastPara="1" wrap="square" lIns="91425" tIns="45700" rIns="91425" bIns="45700" anchor="ctr" anchorCtr="0">
            <a:noAutofit/>
          </a:bodyPr>
          <a:lstStyle/>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Efficient data analysis</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Faster business insight generation</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Reduces manual data processing</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Supports trend &amp; growth analysis</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Enables performance ranking</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Improves decision-making accuracy</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Scalable &amp; optimized query structure</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590" b="1">
                <a:solidFill>
                  <a:srgbClr val="0070C0"/>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eview </a:t>
            </a: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T</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imeline:</a:t>
            </a:r>
            <a:endPar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 name="Google Shape;18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 name="Slide Number Placeholder 3"/>
          <p:cNvSpPr>
            <a:spLocks noGrp="1"/>
          </p:cNvSpPr>
          <p:nvPr/>
        </p:nvSpPr>
        <p:spPr>
          <a:xfrm>
            <a:off x="8737600" y="6483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fld>
            <a:endParaRPr lang="en-US" altLang="en-US"/>
          </a:p>
        </p:txBody>
      </p:sp>
      <p:graphicFrame>
        <p:nvGraphicFramePr>
          <p:cNvPr id="8" name="Content Placeholder 7"/>
          <p:cNvGraphicFramePr>
            <a:graphicFrameLocks noGrp="1"/>
          </p:cNvGraphicFramePr>
          <p:nvPr>
            <p:ph idx="1"/>
          </p:nvPr>
        </p:nvGraphicFramePr>
        <p:xfrm>
          <a:off x="316230" y="901246"/>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Text Box 4"/>
          <p:cNvSpPr txBox="1"/>
          <p:nvPr/>
        </p:nvSpPr>
        <p:spPr>
          <a:xfrm>
            <a:off x="2433320" y="1783080"/>
            <a:ext cx="1631950" cy="2479675"/>
          </a:xfrm>
          <a:prstGeom prst="rect">
            <a:avLst/>
          </a:prstGeom>
          <a:noFill/>
        </p:spPr>
        <p:txBody>
          <a:bodyPr wrap="square" rtlCol="0">
            <a:noAutofit/>
          </a:bodyPr>
          <a:p>
            <a:r>
              <a:rPr lang="en-US" altLang="en-GB"/>
              <a:t>Company orientation,</a:t>
            </a:r>
            <a:endParaRPr lang="en-US" altLang="en-GB"/>
          </a:p>
          <a:p>
            <a:r>
              <a:rPr lang="en-US" altLang="en-GB"/>
              <a:t>Tool setup,</a:t>
            </a:r>
            <a:endParaRPr lang="en-US" altLang="en-GB"/>
          </a:p>
          <a:p>
            <a:r>
              <a:rPr lang="en-US" altLang="en-GB"/>
              <a:t>Python &amp; SQL basics,</a:t>
            </a:r>
            <a:endParaRPr lang="en-US" altLang="en-GB"/>
          </a:p>
          <a:p>
            <a:r>
              <a:rPr lang="en-US" altLang="en-GB"/>
              <a:t>Dataset understanding</a:t>
            </a:r>
            <a:endParaRPr lang="en-US" altLang="en-GB"/>
          </a:p>
        </p:txBody>
      </p:sp>
      <p:sp>
        <p:nvSpPr>
          <p:cNvPr id="7" name="Text Box 6"/>
          <p:cNvSpPr txBox="1"/>
          <p:nvPr>
            <p:custDataLst>
              <p:tags r:id="rId6"/>
            </p:custDataLst>
          </p:nvPr>
        </p:nvSpPr>
        <p:spPr>
          <a:xfrm>
            <a:off x="3715385" y="1783080"/>
            <a:ext cx="1346200" cy="2448560"/>
          </a:xfrm>
          <a:prstGeom prst="rect">
            <a:avLst/>
          </a:prstGeom>
          <a:noFill/>
        </p:spPr>
        <p:txBody>
          <a:bodyPr wrap="square" rtlCol="0">
            <a:noAutofit/>
          </a:bodyPr>
          <a:p>
            <a:r>
              <a:rPr lang="en-US" altLang="en-GB"/>
              <a:t>Data cleaning,</a:t>
            </a:r>
            <a:endParaRPr lang="en-US" altLang="en-GB"/>
          </a:p>
          <a:p>
            <a:r>
              <a:rPr lang="en-US" altLang="en-GB"/>
              <a:t>SQL queries,</a:t>
            </a:r>
            <a:endParaRPr lang="en-US" altLang="en-GB"/>
          </a:p>
          <a:p>
            <a:r>
              <a:rPr lang="en-US" altLang="en-GB"/>
              <a:t>Exploratory analysis,</a:t>
            </a:r>
            <a:endParaRPr lang="en-US" altLang="en-GB"/>
          </a:p>
          <a:p>
            <a:r>
              <a:rPr lang="en-US" altLang="en-GB"/>
              <a:t>Basic insights</a:t>
            </a:r>
            <a:endParaRPr lang="en-US" altLang="en-GB"/>
          </a:p>
        </p:txBody>
      </p:sp>
      <p:sp>
        <p:nvSpPr>
          <p:cNvPr id="9" name="Text Box 8"/>
          <p:cNvSpPr txBox="1"/>
          <p:nvPr>
            <p:custDataLst>
              <p:tags r:id="rId7"/>
            </p:custDataLst>
          </p:nvPr>
        </p:nvSpPr>
        <p:spPr>
          <a:xfrm>
            <a:off x="5061585" y="1783080"/>
            <a:ext cx="1618615" cy="2800350"/>
          </a:xfrm>
          <a:prstGeom prst="rect">
            <a:avLst/>
          </a:prstGeom>
          <a:noFill/>
        </p:spPr>
        <p:txBody>
          <a:bodyPr wrap="square" rtlCol="0">
            <a:noAutofit/>
          </a:bodyPr>
          <a:p>
            <a:r>
              <a:rPr lang="en-US" altLang="en-GB"/>
              <a:t>Advanced analysis,</a:t>
            </a:r>
            <a:endParaRPr lang="en-US" altLang="en-GB"/>
          </a:p>
          <a:p>
            <a:r>
              <a:rPr lang="en-US" altLang="en-GB"/>
              <a:t>Visualization,</a:t>
            </a:r>
            <a:endParaRPr lang="en-US" altLang="en-GB"/>
          </a:p>
          <a:p>
            <a:r>
              <a:rPr lang="en-US" altLang="en-GB"/>
              <a:t>Trend identification,</a:t>
            </a:r>
            <a:endParaRPr lang="en-US" altLang="en-GB"/>
          </a:p>
          <a:p>
            <a:r>
              <a:rPr lang="en-US" altLang="en-GB"/>
              <a:t>KPI extraction</a:t>
            </a:r>
            <a:endParaRPr lang="en-US" altLang="en-GB"/>
          </a:p>
        </p:txBody>
      </p:sp>
      <p:sp>
        <p:nvSpPr>
          <p:cNvPr id="10" name="Text Box 9"/>
          <p:cNvSpPr txBox="1"/>
          <p:nvPr>
            <p:custDataLst>
              <p:tags r:id="rId8"/>
            </p:custDataLst>
          </p:nvPr>
        </p:nvSpPr>
        <p:spPr>
          <a:xfrm>
            <a:off x="6337300" y="1783080"/>
            <a:ext cx="1356995" cy="2109470"/>
          </a:xfrm>
          <a:prstGeom prst="rect">
            <a:avLst/>
          </a:prstGeom>
          <a:noFill/>
        </p:spPr>
        <p:txBody>
          <a:bodyPr wrap="square" rtlCol="0">
            <a:noAutofit/>
          </a:bodyPr>
          <a:p>
            <a:r>
              <a:rPr lang="en-US" altLang="en-GB"/>
              <a:t>Dashboard creation</a:t>
            </a:r>
            <a:endParaRPr lang="en-US" altLang="en-GB"/>
          </a:p>
          <a:p>
            <a:r>
              <a:rPr lang="en-US" altLang="en-GB"/>
              <a:t>Report automation</a:t>
            </a:r>
            <a:endParaRPr lang="en-US" altLang="en-GB"/>
          </a:p>
          <a:p>
            <a:r>
              <a:rPr lang="en-US" altLang="en-GB"/>
              <a:t>Insight validation</a:t>
            </a:r>
            <a:endParaRPr lang="en-US" altLang="en-GB"/>
          </a:p>
          <a:p>
            <a:r>
              <a:rPr lang="en-US" altLang="en-GB"/>
              <a:t>Mentor feedback</a:t>
            </a:r>
            <a:endParaRPr lang="en-US" altLang="en-GB"/>
          </a:p>
        </p:txBody>
      </p:sp>
      <p:sp>
        <p:nvSpPr>
          <p:cNvPr id="11" name="Text Box 10"/>
          <p:cNvSpPr txBox="1"/>
          <p:nvPr>
            <p:custDataLst>
              <p:tags r:id="rId9"/>
            </p:custDataLst>
          </p:nvPr>
        </p:nvSpPr>
        <p:spPr>
          <a:xfrm>
            <a:off x="7517765" y="1783080"/>
            <a:ext cx="1695450" cy="3258185"/>
          </a:xfrm>
          <a:prstGeom prst="rect">
            <a:avLst/>
          </a:prstGeom>
          <a:noFill/>
        </p:spPr>
        <p:txBody>
          <a:bodyPr wrap="square" rtlCol="0">
            <a:noAutofit/>
          </a:bodyPr>
          <a:p>
            <a:r>
              <a:rPr lang="en-US" altLang="en-GB"/>
              <a:t>Optimized analysis,Final dashboard,</a:t>
            </a:r>
            <a:endParaRPr lang="en-US" altLang="en-GB"/>
          </a:p>
          <a:p>
            <a:r>
              <a:rPr lang="en-US" altLang="en-GB"/>
              <a:t>Documentation,</a:t>
            </a:r>
            <a:endParaRPr lang="en-US" altLang="en-GB"/>
          </a:p>
          <a:p>
            <a:r>
              <a:rPr lang="en-US" altLang="en-GB"/>
              <a:t>Project presentation</a:t>
            </a:r>
            <a:endParaRPr lang="en-US" alt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xfrm>
            <a:off x="556350" y="365125"/>
            <a:ext cx="10515600" cy="596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590" b="1">
                <a:solidFill>
                  <a:srgbClr val="0070C0"/>
                </a:solidFill>
                <a:latin typeface="Times New Roman" panose="02020603050405020304"/>
                <a:ea typeface="Times New Roman" panose="02020603050405020304"/>
                <a:cs typeface="Times New Roman" panose="02020603050405020304"/>
                <a:sym typeface="Times New Roman" panose="02020603050405020304"/>
              </a:rPr>
              <a:t>G</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ithub </a:t>
            </a: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L</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ink:</a:t>
            </a:r>
            <a:endPar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 name="Google Shape;20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08" name="Google Shape;208;p27"/>
          <p:cNvSpPr/>
          <p:nvPr/>
        </p:nvSpPr>
        <p:spPr>
          <a:xfrm>
            <a:off x="772500" y="2605400"/>
            <a:ext cx="10647000" cy="15030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4400">
                <a:solidFill>
                  <a:srgbClr val="0070C0"/>
                </a:solidFill>
                <a:sym typeface="+mn-ea"/>
              </a:rPr>
              <a:t>https://github.com/chirag7823/Internship</a:t>
            </a:r>
            <a:endParaRPr sz="1900">
              <a:latin typeface="Calibri" panose="020F0502020204030204"/>
              <a:ea typeface="Calibri" panose="020F0502020204030204"/>
              <a:cs typeface="Calibri" panose="020F0502020204030204"/>
              <a:sym typeface="Calibri" panose="020F0502020204030204"/>
            </a:endParaRPr>
          </a:p>
        </p:txBody>
      </p:sp>
      <p:sp>
        <p:nvSpPr>
          <p:cNvPr id="209" name="Google Shape;209;p27"/>
          <p:cNvSpPr/>
          <p:nvPr/>
        </p:nvSpPr>
        <p:spPr>
          <a:xfrm rot="-1971703">
            <a:off x="8400073" y="3707221"/>
            <a:ext cx="702157" cy="949717"/>
          </a:xfrm>
          <a:prstGeom prst="upArrow">
            <a:avLst>
              <a:gd name="adj1" fmla="val 49786"/>
              <a:gd name="adj2" fmla="val 7886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body" idx="1"/>
          </p:nvPr>
        </p:nvSpPr>
        <p:spPr>
          <a:xfrm>
            <a:off x="0" y="0"/>
            <a:ext cx="12192000" cy="6858000"/>
          </a:xfrm>
          <a:prstGeom prst="rect">
            <a:avLst/>
          </a:prstGeom>
          <a:solidFill>
            <a:srgbClr val="1F3864"/>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solidFill>
                <a:srgbClr val="FFFF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1000"/>
              </a:spcBef>
              <a:spcAft>
                <a:spcPts val="0"/>
              </a:spcAft>
              <a:buClr>
                <a:srgbClr val="FFFF00"/>
              </a:buClr>
              <a:buSzPts val="6600"/>
              <a:buNone/>
            </a:pPr>
            <a:r>
              <a:rPr lang="en-US" sz="6600">
                <a:solidFill>
                  <a:srgbClr val="FFFF00"/>
                </a:solidFill>
                <a:latin typeface="Times New Roman" panose="02020603050405020304"/>
                <a:ea typeface="Times New Roman" panose="02020603050405020304"/>
                <a:cs typeface="Times New Roman" panose="02020603050405020304"/>
                <a:sym typeface="Times New Roman" panose="02020603050405020304"/>
              </a:rPr>
              <a:t>  </a:t>
            </a:r>
            <a:r>
              <a:rPr lang="en-US" sz="6600">
                <a:solidFill>
                  <a:srgbClr val="F7CAAC"/>
                </a:solidFill>
                <a:latin typeface="Times New Roman" panose="02020603050405020304"/>
                <a:ea typeface="Times New Roman" panose="02020603050405020304"/>
                <a:cs typeface="Times New Roman" panose="02020603050405020304"/>
                <a:sym typeface="Times New Roman" panose="02020603050405020304"/>
              </a:rPr>
              <a:t>Q&amp;A</a:t>
            </a:r>
            <a:endParaRPr lang="en-US" sz="6600">
              <a:solidFill>
                <a:srgbClr val="F7CAAC"/>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1000"/>
              </a:spcBef>
              <a:spcAft>
                <a:spcPts val="0"/>
              </a:spcAft>
              <a:buClr>
                <a:schemeClr val="dk1"/>
              </a:buClr>
              <a:buSzPts val="6600"/>
              <a:buNone/>
            </a:pPr>
            <a:endParaRPr sz="6600">
              <a:solidFill>
                <a:srgbClr val="A7118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 name="Google Shape;21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a:ea typeface="Times New Roman" panose="02020603050405020304"/>
                <a:cs typeface="Times New Roman" panose="02020603050405020304"/>
                <a:sym typeface="Times New Roman" panose="02020603050405020304"/>
              </a:rPr>
            </a:fld>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216" name="Google Shape;216;p28" descr="bd04924_"/>
          <p:cNvPicPr preferRelativeResize="0"/>
          <p:nvPr/>
        </p:nvPicPr>
        <p:blipFill rotWithShape="1">
          <a:blip r:embed="rId1"/>
          <a:srcRect/>
          <a:stretch>
            <a:fillRect/>
          </a:stretch>
        </p:blipFill>
        <p:spPr>
          <a:xfrm>
            <a:off x="4833020" y="2150340"/>
            <a:ext cx="2841171" cy="383241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9"/>
          <p:cNvSpPr txBox="1">
            <a:spLocks noGrp="1"/>
          </p:cNvSpPr>
          <p:nvPr>
            <p:ph type="body" idx="1"/>
          </p:nvPr>
        </p:nvSpPr>
        <p:spPr>
          <a:xfrm>
            <a:off x="838200" y="2547258"/>
            <a:ext cx="10515600" cy="12148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A71180"/>
              </a:buClr>
              <a:buSzPts val="6600"/>
              <a:buNone/>
            </a:pPr>
            <a:r>
              <a:rPr lang="en-US" sz="6600">
                <a:solidFill>
                  <a:srgbClr val="A71180"/>
                </a:solidFill>
                <a:latin typeface="Times New Roman" panose="02020603050405020304"/>
                <a:ea typeface="Times New Roman" panose="02020603050405020304"/>
                <a:cs typeface="Times New Roman" panose="02020603050405020304"/>
                <a:sym typeface="Times New Roman" panose="02020603050405020304"/>
              </a:rPr>
              <a:t>Thank you!</a:t>
            </a:r>
            <a:endParaRPr lang="en-US" sz="6600">
              <a:solidFill>
                <a:srgbClr val="A7118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tags/tag1.xml><?xml version="1.0" encoding="utf-8"?>
<p:tagLst xmlns:p="http://schemas.openxmlformats.org/presentationml/2006/main">
  <p:tag name="TABLE_ENDDRAG_ORIGIN_RECT" val="437*151"/>
  <p:tag name="TABLE_ENDDRAG_RECT" val="29*113*437*151"/>
</p:tagLst>
</file>

<file path=ppt/tags/tag2.xml><?xml version="1.0" encoding="utf-8"?>
<p:tagLst xmlns:p="http://schemas.openxmlformats.org/presentationml/2006/main">
  <p:tag name="KSO_WM_DIAGRAM_VIRTUALLY_FRAME" val="{&quot;height&quot;:256.55,&quot;left&quot;:313.85,&quot;top&quot;:140.4,&quot;width&quot;:425.5}"/>
</p:tagLst>
</file>

<file path=ppt/tags/tag3.xml><?xml version="1.0" encoding="utf-8"?>
<p:tagLst xmlns:p="http://schemas.openxmlformats.org/presentationml/2006/main">
  <p:tag name="KSO_WM_DIAGRAM_VIRTUALLY_FRAME" val="{&quot;height&quot;:256.55,&quot;left&quot;:313.85,&quot;top&quot;:140.4,&quot;width&quot;:425.5}"/>
</p:tagLst>
</file>

<file path=ppt/tags/tag4.xml><?xml version="1.0" encoding="utf-8"?>
<p:tagLst xmlns:p="http://schemas.openxmlformats.org/presentationml/2006/main">
  <p:tag name="KSO_WM_DIAGRAM_VIRTUALLY_FRAME" val="{&quot;height&quot;:256.55,&quot;left&quot;:313.85,&quot;top&quot;:140.4,&quot;width&quot;:425.5}"/>
</p:tagLst>
</file>

<file path=ppt/tags/tag5.xml><?xml version="1.0" encoding="utf-8"?>
<p:tagLst xmlns:p="http://schemas.openxmlformats.org/presentationml/2006/main">
  <p:tag name="KSO_WM_DIAGRAM_VIRTUALLY_FRAME" val="{&quot;height&quot;:256.55,&quot;left&quot;:313.85,&quot;top&quot;:140.4,&quot;width&quot;:425.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5353</Words>
  <Application>WPS Presentation</Application>
  <PresentationFormat>Widescreen</PresentationFormat>
  <Paragraphs>288</Paragraphs>
  <Slides>20</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20</vt:i4>
      </vt:variant>
    </vt:vector>
  </HeadingPairs>
  <TitlesOfParts>
    <vt:vector size="36" baseType="lpstr">
      <vt:lpstr>Arial</vt:lpstr>
      <vt:lpstr>SimSun</vt:lpstr>
      <vt:lpstr>Wingdings</vt:lpstr>
      <vt:lpstr>Arial</vt:lpstr>
      <vt:lpstr>Calibri</vt:lpstr>
      <vt:lpstr>Cambria</vt:lpstr>
      <vt:lpstr>Verdana</vt:lpstr>
      <vt:lpstr>Times New Roman</vt:lpstr>
      <vt:lpstr>Tahoma</vt:lpstr>
      <vt:lpstr>Times New Roman</vt:lpstr>
      <vt:lpstr>Cambria</vt:lpstr>
      <vt:lpstr>Noto Sans Symbols</vt:lpstr>
      <vt:lpstr>Microsoft YaHei</vt:lpstr>
      <vt:lpstr>Arial Unicode MS</vt:lpstr>
      <vt:lpstr>Segoe Print</vt:lpstr>
      <vt:lpstr>Office Theme</vt:lpstr>
      <vt:lpstr>PowerPoint 演示文稿</vt:lpstr>
      <vt:lpstr>CONTENT:</vt:lpstr>
      <vt:lpstr>Company Brief:</vt:lpstr>
      <vt:lpstr>Working Domain:</vt:lpstr>
      <vt:lpstr>Working Domain Continued…</vt:lpstr>
      <vt:lpstr>Team Composition:</vt:lpstr>
      <vt:lpstr>Challenges Faced:</vt:lpstr>
      <vt:lpstr>Objective:</vt:lpstr>
      <vt:lpstr>Literature Review:</vt:lpstr>
      <vt:lpstr>PowerPoint 演示文稿</vt:lpstr>
      <vt:lpstr>Proposed System:</vt:lpstr>
      <vt:lpstr>Problem Statement:</vt:lpstr>
      <vt:lpstr>PowerPoint 演示文稿</vt:lpstr>
      <vt:lpstr>PowerPoint 演示文稿</vt:lpstr>
      <vt:lpstr>System Requirements:</vt:lpstr>
      <vt:lpstr>Advantages of Proposed System:</vt:lpstr>
      <vt:lpstr>Review Timeline:</vt:lpstr>
      <vt:lpstr>Github Link:</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Chirag BA</cp:lastModifiedBy>
  <cp:revision>14</cp:revision>
  <dcterms:created xsi:type="dcterms:W3CDTF">2026-02-05T17:04:00Z</dcterms:created>
  <dcterms:modified xsi:type="dcterms:W3CDTF">2026-04-06T17:13:31Z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0D7E2924E84D4E58A3D1B1A8BDEEFD7D_13</vt:lpwstr>
  </property>
  <property fmtid="{D5CDD505-2E9C-101B-9397-08002B2CF9AE}" pid="3" name="KSOProductBuildVer">
    <vt:lpwstr>2057-12.2.0.23197</vt:lpwstr>
  </property>
</Properties>
</file>