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g3bc75d11b8d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g3bc75d11b8d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0" name="Google Shape;1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7" name="Google Shape;1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2" name="Google Shape;21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9" name="Google Shape;2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notesSlide" Target="../notesSlides/notesSlide14.xml"/><Relationship Id="rId10" Type="http://schemas.openxmlformats.org/officeDocument/2006/relationships/slideLayout" Target="../slideLayouts/slideLayout2.xml"/><Relationship Id="rId1"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3" name="Google Shape;90;p13"/>
          <p:cNvSpPr txBox="1"/>
          <p:nvPr/>
        </p:nvSpPr>
        <p:spPr>
          <a:xfrm>
            <a:off x="6285230" y="1859280"/>
            <a:ext cx="5754370" cy="22707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Mr. H. Senthil Kumar </a:t>
            </a:r>
            <a:endPar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of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4"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 Computer Science and Engineering</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altLang="en-GB" sz="20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Dr.Asif Mohammed </a:t>
            </a:r>
            <a:endPar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Coordinator: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Mr Sakthi S</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Md Ziaur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Rahman</a:t>
            </a:r>
            <a:endPar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5"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Review-2 Presentation </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t>DATA  ANALYST</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br>
            <a:endParaRPr lang="en-US" sz="24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custDataLst>
              <p:tags r:id="rId1"/>
            </p:custDataLst>
          </p:nvPr>
        </p:nvGraphicFramePr>
        <p:xfrm>
          <a:off x="447675" y="1765300"/>
          <a:ext cx="5552440" cy="1922780"/>
        </p:xfrm>
        <a:graphic>
          <a:graphicData uri="http://schemas.openxmlformats.org/drawingml/2006/table">
            <a:tbl>
              <a:tblPr firstRow="1" bandRow="1">
                <a:tableStyleId>{5C22544A-7EE6-4342-B048-85BDC9FD1C3A}</a:tableStyleId>
              </a:tblPr>
              <a:tblGrid>
                <a:gridCol w="1430655"/>
                <a:gridCol w="4121785"/>
              </a:tblGrid>
              <a:tr h="480695">
                <a:tc gridSpan="2">
                  <a:txBody>
                    <a:bodyPr/>
                    <a:lstStyle/>
                    <a:p>
                      <a:pPr algn="ctr"/>
                      <a:r>
                        <a:rPr lang="en-US" sz="1800"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sz="1800" b="1" dirty="0" smtClean="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Chirag BA</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20221CSE0314</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8SIC01</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7365D"/>
              </a:buClr>
              <a:buSzPts val="2800"/>
              <a:buFont typeface="Verdana" panose="020B0604030504040204"/>
              <a:buNone/>
            </a:pPr>
            <a:r>
              <a:rPr lang="en-US" sz="5000" b="1">
                <a:latin typeface="Times New Roman" panose="02020603050405020304"/>
                <a:ea typeface="Times New Roman" panose="02020603050405020304"/>
                <a:cs typeface="Times New Roman" panose="02020603050405020304"/>
                <a:sym typeface="Times New Roman" panose="02020603050405020304"/>
              </a:rPr>
              <a:t>C</a:t>
            </a:r>
            <a:r>
              <a:rPr lang="en-US" sz="3200" b="1">
                <a:latin typeface="Times New Roman" panose="02020603050405020304"/>
                <a:ea typeface="Times New Roman" panose="02020603050405020304"/>
                <a:cs typeface="Times New Roman" panose="02020603050405020304"/>
                <a:sym typeface="Times New Roman" panose="02020603050405020304"/>
              </a:rPr>
              <a:t>ONTENT:</a:t>
            </a:r>
            <a:endParaRPr sz="3200" b="1">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Google Shape;97;p14"/>
          <p:cNvSpPr txBox="1">
            <a:spLocks noGrp="1"/>
          </p:cNvSpPr>
          <p:nvPr>
            <p:ph type="body" idx="1"/>
          </p:nvPr>
        </p:nvSpPr>
        <p:spPr>
          <a:xfrm>
            <a:off x="704516" y="1027630"/>
            <a:ext cx="10668000" cy="4271100"/>
          </a:xfrm>
          <a:prstGeom prst="rect">
            <a:avLst/>
          </a:prstGeom>
          <a:noFill/>
          <a:ln>
            <a:noFill/>
          </a:ln>
        </p:spPr>
        <p:txBody>
          <a:bodyPr spcFirstLastPara="1" wrap="square" lIns="91425" tIns="45700" rIns="91425" bIns="45700" anchor="t" anchorCtr="0">
            <a:noAutofit/>
          </a:bodyPr>
          <a:lstStyle/>
          <a:p>
            <a:pPr marL="914400" lvl="0" indent="-355600" algn="just" rtl="0">
              <a:lnSpc>
                <a:spcPct val="115000"/>
              </a:lnSpc>
              <a:spcBef>
                <a:spcPts val="0"/>
              </a:spcBef>
              <a:spcAft>
                <a:spcPts val="0"/>
              </a:spcAft>
              <a:buClr>
                <a:srgbClr val="0070C0"/>
              </a:buClr>
              <a:buSzPts val="2000"/>
              <a:buFont typeface="Times New Roman" panose="02020603050405020304"/>
              <a:buAutoNum type="arabicPeriod"/>
            </a:pPr>
            <a:r>
              <a:rPr lang="en-US" sz="2000" b="1">
                <a:solidFill>
                  <a:srgbClr val="0070C0"/>
                </a:solidFill>
                <a:latin typeface="Times New Roman" panose="02020603050405020304"/>
                <a:ea typeface="Times New Roman" panose="02020603050405020304"/>
                <a:cs typeface="Times New Roman" panose="02020603050405020304"/>
                <a:sym typeface="Times New Roman" panose="02020603050405020304"/>
              </a:rPr>
              <a:t>Company Brief.</a:t>
            </a:r>
            <a:endParaRPr lang="en-US" sz="20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Working Domain.</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Team Composition.</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Challenges Faced.</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Objectives.</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Literature Review.</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Proposed System.</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System Requirements.</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Advantages of Proposed System.</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Review Timeline.</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Github Link.</a:t>
            </a:r>
            <a:endParaRPr sz="2000">
              <a:latin typeface="Cambria" panose="02040503050406030204"/>
              <a:ea typeface="Cambria" panose="02040503050406030204"/>
              <a:cs typeface="Cambria" panose="02040503050406030204"/>
              <a:sym typeface="Cambria" panose="02040503050406030204"/>
            </a:endParaRPr>
          </a:p>
          <a:p>
            <a:pPr marL="495300" lvl="0" indent="-190500" algn="just" rtl="0">
              <a:lnSpc>
                <a:spcPct val="100000"/>
              </a:lnSpc>
              <a:spcBef>
                <a:spcPts val="0"/>
              </a:spcBef>
              <a:spcAft>
                <a:spcPts val="0"/>
              </a:spcAft>
              <a:buClr>
                <a:schemeClr val="dk1"/>
              </a:buClr>
              <a:buSzPts val="2400"/>
              <a:buFont typeface="Noto Sans Symbols"/>
              <a:buNone/>
            </a:pPr>
            <a:endParaRPr sz="20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C</a:t>
            </a:r>
            <a:r>
              <a:rPr lang="en-US" sz="3645" b="1">
                <a:solidFill>
                  <a:srgbClr val="0070C0"/>
                </a:solidFill>
                <a:latin typeface="Times New Roman" panose="02020603050405020304"/>
                <a:ea typeface="Times New Roman" panose="02020603050405020304"/>
                <a:cs typeface="Times New Roman" panose="02020603050405020304"/>
                <a:sym typeface="Times New Roman" panose="02020603050405020304"/>
              </a:rPr>
              <a:t>ompany</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en-US" sz="5635" b="1">
                <a:solidFill>
                  <a:srgbClr val="0070C0"/>
                </a:solidFill>
                <a:latin typeface="Times New Roman" panose="02020603050405020304"/>
                <a:ea typeface="Times New Roman" panose="02020603050405020304"/>
                <a:cs typeface="Times New Roman" panose="02020603050405020304"/>
                <a:sym typeface="Times New Roman" panose="02020603050405020304"/>
              </a:rPr>
              <a:t>B</a:t>
            </a:r>
            <a:r>
              <a:rPr lang="en-US" sz="3645" b="1">
                <a:solidFill>
                  <a:srgbClr val="0070C0"/>
                </a:solidFill>
                <a:latin typeface="Times New Roman" panose="02020603050405020304"/>
                <a:ea typeface="Times New Roman" panose="02020603050405020304"/>
                <a:cs typeface="Times New Roman" panose="02020603050405020304"/>
                <a:sym typeface="Times New Roman" panose="02020603050405020304"/>
              </a:rPr>
              <a:t>rief:</a:t>
            </a:r>
            <a:endParaRPr sz="4845"/>
          </a:p>
        </p:txBody>
      </p:sp>
      <p:sp>
        <p:nvSpPr>
          <p:cNvPr id="103" name="Google Shape;103;p15"/>
          <p:cNvSpPr txBox="1">
            <a:spLocks noGrp="1"/>
          </p:cNvSpPr>
          <p:nvPr>
            <p:ph type="body" idx="1"/>
          </p:nvPr>
        </p:nvSpPr>
        <p:spPr>
          <a:xfrm>
            <a:off x="838200" y="1342518"/>
            <a:ext cx="10515600" cy="4613700"/>
          </a:xfrm>
          <a:prstGeom prst="rect">
            <a:avLst/>
          </a:prstGeom>
          <a:noFill/>
          <a:ln>
            <a:noFill/>
          </a:ln>
        </p:spPr>
        <p:txBody>
          <a:bodyPr spcFirstLastPara="1" wrap="square" lIns="91425" tIns="45700" rIns="91425" bIns="45700" anchor="t" anchorCtr="0">
            <a:normAutofit fontScale="25000" lnSpcReduction="20000"/>
          </a:bodyPr>
          <a:lstStyle/>
          <a:p>
            <a:pPr marL="0" lvl="0" indent="0" algn="just" rtl="0">
              <a:lnSpc>
                <a:spcPct val="100000"/>
              </a:lnSpc>
              <a:spcBef>
                <a:spcPts val="0"/>
              </a:spcBef>
              <a:spcAft>
                <a:spcPts val="0"/>
              </a:spcAft>
              <a:buNone/>
            </a:pPr>
            <a:r>
              <a:rPr lang="en-US" sz="9730" b="1">
                <a:latin typeface="Times New Roman" panose="02020603050405020304"/>
                <a:ea typeface="Times New Roman" panose="02020603050405020304"/>
                <a:cs typeface="Times New Roman" panose="02020603050405020304"/>
                <a:sym typeface="Times New Roman" panose="02020603050405020304"/>
              </a:rPr>
              <a:t>About Nineleaps:</a:t>
            </a:r>
            <a:endParaRPr sz="9730" b="1">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100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Nineleaps is a data and analytics consulting company that focuses on helping organizations become </a:t>
            </a:r>
            <a:r>
              <a:rPr lang="en-US" sz="9730" b="1">
                <a:latin typeface="Times New Roman" panose="02020603050405020304"/>
                <a:ea typeface="Times New Roman" panose="02020603050405020304"/>
                <a:cs typeface="Times New Roman" panose="02020603050405020304"/>
                <a:sym typeface="Times New Roman" panose="02020603050405020304"/>
              </a:rPr>
              <a:t>data-driven</a:t>
            </a:r>
            <a:r>
              <a:rPr lang="en-US" sz="9730">
                <a:latin typeface="Times New Roman" panose="02020603050405020304"/>
                <a:ea typeface="Times New Roman" panose="02020603050405020304"/>
                <a:cs typeface="Times New Roman" panose="02020603050405020304"/>
                <a:sym typeface="Times New Roman" panose="02020603050405020304"/>
              </a:rPr>
              <a:t>. The company works with clients across multiple industries to solve business problems using </a:t>
            </a:r>
            <a:r>
              <a:rPr lang="en-US" sz="9730" b="1">
                <a:latin typeface="Times New Roman" panose="02020603050405020304"/>
                <a:ea typeface="Times New Roman" panose="02020603050405020304"/>
                <a:cs typeface="Times New Roman" panose="02020603050405020304"/>
                <a:sym typeface="Times New Roman" panose="02020603050405020304"/>
              </a:rPr>
              <a:t>data analytics, artificial intelligence, and digital transformation</a:t>
            </a:r>
            <a:r>
              <a:rPr lang="en-US" sz="9730">
                <a:latin typeface="Times New Roman" panose="02020603050405020304"/>
                <a:ea typeface="Times New Roman" panose="02020603050405020304"/>
                <a:cs typeface="Times New Roman" panose="02020603050405020304"/>
                <a:sym typeface="Times New Roman" panose="02020603050405020304"/>
              </a:rPr>
              <a:t>.</a:t>
            </a:r>
            <a:endParaRPr sz="9730">
              <a:latin typeface="Times New Roman" panose="02020603050405020304"/>
              <a:ea typeface="Times New Roman" panose="02020603050405020304"/>
              <a:cs typeface="Times New Roman" panose="02020603050405020304"/>
              <a:sym typeface="Times New Roman" panose="02020603050405020304"/>
            </a:endParaRPr>
          </a:p>
          <a:p>
            <a:pPr marL="228600" lvl="0" indent="0" algn="just" rtl="0">
              <a:lnSpc>
                <a:spcPct val="100000"/>
              </a:lnSpc>
              <a:spcBef>
                <a:spcPts val="0"/>
              </a:spcBef>
              <a:spcAft>
                <a:spcPts val="0"/>
              </a:spcAft>
              <a:buNone/>
            </a:pPr>
            <a:endParaRPr sz="973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sz="9730" b="1">
                <a:latin typeface="Times New Roman" panose="02020603050405020304"/>
                <a:ea typeface="Times New Roman" panose="02020603050405020304"/>
                <a:cs typeface="Times New Roman" panose="02020603050405020304"/>
                <a:sym typeface="Times New Roman" panose="02020603050405020304"/>
              </a:rPr>
              <a:t>Services &amp; Offerings:</a:t>
            </a:r>
            <a:endParaRPr sz="9730" b="1">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100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Data Analytics &amp; Business Intelligence.</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Data Engineering &amp; Cloud Solutions.</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AI &amp; Machine Learning Solutions.</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Product Engineering &amp; Consulting.</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Digital Transformation Services.</a:t>
            </a:r>
            <a:endParaRPr sz="9730">
              <a:latin typeface="Times New Roman" panose="02020603050405020304"/>
              <a:ea typeface="Times New Roman" panose="02020603050405020304"/>
              <a:cs typeface="Times New Roman" panose="02020603050405020304"/>
              <a:sym typeface="Times New Roman" panose="02020603050405020304"/>
            </a:endParaRPr>
          </a:p>
          <a:p>
            <a:pPr marL="685800" lvl="1" indent="-87630" algn="just" rtl="0">
              <a:lnSpc>
                <a:spcPct val="100000"/>
              </a:lnSpc>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228600" lvl="0" indent="-64135" algn="just" rtl="0">
              <a:lnSpc>
                <a:spcPct val="100000"/>
              </a:lnSpc>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orking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D</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omain:</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16"/>
          <p:cNvSpPr txBox="1">
            <a:spLocks noGrp="1"/>
          </p:cNvSpPr>
          <p:nvPr>
            <p:ph type="body" idx="1"/>
          </p:nvPr>
        </p:nvSpPr>
        <p:spPr>
          <a:xfrm>
            <a:off x="838200" y="1434888"/>
            <a:ext cx="10515600" cy="4058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Assigned Domain / Technology:</a:t>
            </a:r>
            <a:endParaRPr sz="2400">
              <a:latin typeface="Times New Roman" panose="02020603050405020304"/>
              <a:ea typeface="Times New Roman" panose="02020603050405020304"/>
              <a:cs typeface="Times New Roman" panose="02020603050405020304"/>
              <a:sym typeface="Times New Roman" panose="02020603050405020304"/>
            </a:endParaRPr>
          </a:p>
          <a:p>
            <a:pPr marL="857250" lvl="0" indent="-257175"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During my internship, I am working in the domain of </a:t>
            </a:r>
            <a:r>
              <a:rPr lang="en-US" sz="2400" b="1">
                <a:latin typeface="Times New Roman" panose="02020603050405020304"/>
                <a:ea typeface="Times New Roman" panose="02020603050405020304"/>
                <a:cs typeface="Times New Roman" panose="02020603050405020304"/>
                <a:sym typeface="Times New Roman" panose="02020603050405020304"/>
              </a:rPr>
              <a:t>Data Analytics.</a:t>
            </a:r>
            <a:endParaRPr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0" algn="l" rtl="0">
              <a:lnSpc>
                <a:spcPct val="100000"/>
              </a:lnSpc>
              <a:spcBef>
                <a:spcPts val="0"/>
              </a:spcBef>
              <a:spcAft>
                <a:spcPts val="0"/>
              </a:spcAft>
              <a:buNone/>
            </a:pPr>
            <a:endParaRPr sz="24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Key Technologies &amp; Tools: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Python for data analysis.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Libraries such as Pandas, NumPy, Matplotlib / Seaborn.</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SQL for data querying.</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Data visualization and reporting tools.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Basic exposure to machine learning concepts when applicable.</a:t>
            </a:r>
            <a:endParaRPr sz="2400">
              <a:latin typeface="Times New Roman" panose="02020603050405020304"/>
              <a:ea typeface="Times New Roman" panose="02020603050405020304"/>
              <a:cs typeface="Times New Roman" panose="02020603050405020304"/>
              <a:sym typeface="Times New Roman" panose="02020603050405020304"/>
            </a:endParaRPr>
          </a:p>
          <a:p>
            <a:pPr marL="228600" lvl="0" indent="-104140" algn="l" rtl="0">
              <a:lnSpc>
                <a:spcPct val="100000"/>
              </a:lnSpc>
              <a:spcBef>
                <a:spcPts val="0"/>
              </a:spcBef>
              <a:spcAft>
                <a:spcPts val="0"/>
              </a:spcAft>
              <a:buClr>
                <a:schemeClr val="dk1"/>
              </a:buClr>
              <a:buSzPts val="2800"/>
              <a:buNone/>
            </a:pP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1" name="Google Shape;11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orking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D</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omain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ontinued…</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Google Shape;117;p17"/>
          <p:cNvSpPr txBox="1">
            <a:spLocks noGrp="1"/>
          </p:cNvSpPr>
          <p:nvPr>
            <p:ph type="body" idx="1"/>
          </p:nvPr>
        </p:nvSpPr>
        <p:spPr>
          <a:xfrm>
            <a:off x="838200" y="1387915"/>
            <a:ext cx="10515600" cy="40581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100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Importance of the Domain:</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Helps organizations make informed business decisions.</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Identifies trends, patterns, and insights from data.</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Improves operational efficiency and performance.</a:t>
            </a:r>
            <a:endParaRPr sz="2400">
              <a:latin typeface="Times New Roman" panose="02020603050405020304"/>
              <a:ea typeface="Times New Roman" panose="02020603050405020304"/>
              <a:cs typeface="Times New Roman" panose="02020603050405020304"/>
              <a:sym typeface="Times New Roman" panose="02020603050405020304"/>
            </a:endParaRPr>
          </a:p>
          <a:p>
            <a:pPr marL="685800" lvl="0" indent="-57150" algn="l" rtl="0">
              <a:lnSpc>
                <a:spcPct val="100000"/>
              </a:lnSpc>
              <a:spcBef>
                <a:spcPts val="1000"/>
              </a:spcBef>
              <a:spcAft>
                <a:spcPts val="0"/>
              </a:spcAft>
              <a:buClr>
                <a:schemeClr val="dk1"/>
              </a:buClr>
              <a:buSzPts val="2800"/>
              <a:buNone/>
            </a:pP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Google Shape;11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T</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eam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omposition:</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18"/>
          <p:cNvSpPr txBox="1">
            <a:spLocks noGrp="1"/>
          </p:cNvSpPr>
          <p:nvPr>
            <p:ph type="body" idx="1"/>
          </p:nvPr>
        </p:nvSpPr>
        <p:spPr>
          <a:xfrm>
            <a:off x="838200" y="1403572"/>
            <a:ext cx="10515600" cy="40581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Team Structure:</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Team of </a:t>
            </a:r>
            <a:r>
              <a:rPr lang="en-US" sz="2400" b="1">
                <a:latin typeface="Times New Roman" panose="02020603050405020304"/>
                <a:ea typeface="Times New Roman" panose="02020603050405020304"/>
                <a:cs typeface="Times New Roman" panose="02020603050405020304"/>
                <a:sym typeface="Times New Roman" panose="02020603050405020304"/>
              </a:rPr>
              <a:t>5 members</a:t>
            </a:r>
            <a:r>
              <a:rPr lang="en-US" sz="2400">
                <a:latin typeface="Times New Roman" panose="02020603050405020304"/>
                <a:ea typeface="Times New Roman" panose="02020603050405020304"/>
                <a:cs typeface="Times New Roman" panose="02020603050405020304"/>
                <a:sym typeface="Times New Roman" panose="02020603050405020304"/>
              </a:rPr>
              <a:t> collaborating from </a:t>
            </a:r>
            <a:r>
              <a:rPr lang="en-US" sz="2400" b="1">
                <a:latin typeface="Times New Roman" panose="02020603050405020304"/>
                <a:ea typeface="Times New Roman" panose="02020603050405020304"/>
                <a:cs typeface="Times New Roman" panose="02020603050405020304"/>
                <a:sym typeface="Times New Roman" panose="02020603050405020304"/>
              </a:rPr>
              <a:t>different colleges.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Project managed under the guidance of </a:t>
            </a:r>
            <a:r>
              <a:rPr lang="en-US" sz="2400" b="1">
                <a:latin typeface="Times New Roman" panose="02020603050405020304"/>
                <a:ea typeface="Times New Roman" panose="02020603050405020304"/>
                <a:cs typeface="Times New Roman" panose="02020603050405020304"/>
                <a:sym typeface="Times New Roman" panose="02020603050405020304"/>
              </a:rPr>
              <a:t>Project Manager – Prachi Gupta.</a:t>
            </a:r>
            <a:endParaRPr sz="24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Team Coordination &amp; Workflow:</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Daily Stand up meetings where task are assigned. </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Task tracker to update daily progress.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Stand down to give a report of tasks completed.</a:t>
            </a: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hallenges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F</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aced:</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19"/>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Understanding real-world datasets.</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Cleaning and filtering real world data Indian Premier League (IPL) data. </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Adapting to professional work culture.</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Learning new tools and technologies within a short time.</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Time management to complete the daily stand up tasks by the end of the day.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O</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bjective:</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20"/>
          <p:cNvSpPr txBox="1">
            <a:spLocks noGrp="1"/>
          </p:cNvSpPr>
          <p:nvPr>
            <p:ph type="body" idx="1"/>
          </p:nvPr>
        </p:nvSpPr>
        <p:spPr>
          <a:xfrm>
            <a:off x="838200" y="1184376"/>
            <a:ext cx="10515600" cy="4395900"/>
          </a:xfrm>
          <a:prstGeom prst="rect">
            <a:avLst/>
          </a:prstGeom>
          <a:noFill/>
          <a:ln>
            <a:noFill/>
          </a:ln>
        </p:spPr>
        <p:txBody>
          <a:bodyPr spcFirstLastPara="1" wrap="square" lIns="91425" tIns="45700" rIns="91425" bIns="45700" anchor="t" anchorCtr="0">
            <a:normAutofit lnSpcReduction="20000"/>
          </a:bodyPr>
          <a:lstStyle/>
          <a:p>
            <a:pPr marL="457200" lvl="0" indent="0" algn="l" rtl="0">
              <a:lnSpc>
                <a:spcPct val="90000"/>
              </a:lnSpc>
              <a:spcBef>
                <a:spcPts val="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Primary Objective:</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gain hands-on experience in data analytics.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understand real-world business problems and datasets.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apply theoretical knowledge to practical use cases.</a:t>
            </a:r>
            <a:endParaRPr>
              <a:latin typeface="Times New Roman" panose="02020603050405020304"/>
              <a:ea typeface="Times New Roman" panose="02020603050405020304"/>
              <a:cs typeface="Times New Roman" panose="02020603050405020304"/>
              <a:sym typeface="Times New Roman" panose="02020603050405020304"/>
            </a:endParaRPr>
          </a:p>
          <a:p>
            <a:pPr marL="685800" lvl="0" indent="0" algn="l" rtl="0">
              <a:lnSpc>
                <a:spcPct val="90000"/>
              </a:lnSpc>
              <a:spcBef>
                <a:spcPts val="100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Outcome:</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100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Improved technical and analytical skills.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Better understanding of industry-level workflows.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Exposure to professional project development practices.</a:t>
            </a:r>
            <a:endParaRPr>
              <a:latin typeface="Times New Roman" panose="02020603050405020304"/>
              <a:ea typeface="Times New Roman" panose="02020603050405020304"/>
              <a:cs typeface="Times New Roman" panose="02020603050405020304"/>
              <a:sym typeface="Times New Roman" panose="02020603050405020304"/>
            </a:endParaRPr>
          </a:p>
          <a:p>
            <a:pPr marL="685800" lvl="0" indent="-50800" algn="l" rtl="0">
              <a:lnSpc>
                <a:spcPct val="90000"/>
              </a:lnSpc>
              <a:spcBef>
                <a:spcPts val="1000"/>
              </a:spcBef>
              <a:spcAft>
                <a:spcPts val="0"/>
              </a:spcAft>
              <a:buClr>
                <a:schemeClr val="dk1"/>
              </a:buClr>
              <a:buSzPts val="2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L</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iterature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eview:</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 name="Google Shape;145;p21"/>
          <p:cNvSpPr txBox="1">
            <a:spLocks noGrp="1"/>
          </p:cNvSpPr>
          <p:nvPr>
            <p:ph type="body" idx="1"/>
          </p:nvPr>
        </p:nvSpPr>
        <p:spPr>
          <a:xfrm>
            <a:off x="838200" y="1184376"/>
            <a:ext cx="10515600" cy="4521300"/>
          </a:xfrm>
          <a:prstGeom prst="rect">
            <a:avLst/>
          </a:prstGeom>
          <a:noFill/>
          <a:ln>
            <a:noFill/>
          </a:ln>
        </p:spPr>
        <p:txBody>
          <a:bodyPr spcFirstLastPara="1" wrap="square" lIns="91425" tIns="45700" rIns="91425" bIns="45700" anchor="t" anchorCtr="0">
            <a:normAutofit fontScale="70000" lnSpcReduction="20000"/>
          </a:bodyPr>
          <a:lstStyle/>
          <a:p>
            <a:pPr marL="914400" lvl="0" indent="-358140" algn="just" rtl="0">
              <a:lnSpc>
                <a:spcPct val="115000"/>
              </a:lnSpc>
              <a:spcBef>
                <a:spcPts val="0"/>
              </a:spcBef>
              <a:spcAft>
                <a:spcPts val="0"/>
              </a:spcAft>
              <a:buSzPct val="100000"/>
              <a:buFont typeface="Times New Roman" panose="02020603050405020304"/>
              <a:buAutoNum type="arabicPeriod"/>
            </a:pPr>
            <a:r>
              <a:rPr lang="en-US" sz="2915" b="1" dirty="0">
                <a:latin typeface="Times New Roman" panose="02020603050405020304"/>
                <a:ea typeface="Times New Roman" panose="02020603050405020304"/>
                <a:cs typeface="Times New Roman" panose="02020603050405020304"/>
                <a:sym typeface="Times New Roman" panose="02020603050405020304"/>
              </a:rPr>
              <a:t>Traditional IPL squad selection:</a:t>
            </a:r>
            <a:r>
              <a:rPr lang="en-US" sz="2915" dirty="0">
                <a:latin typeface="Times New Roman" panose="02020603050405020304"/>
                <a:ea typeface="Times New Roman" panose="02020603050405020304"/>
                <a:cs typeface="Times New Roman" panose="02020603050405020304"/>
                <a:sym typeface="Times New Roman" panose="02020603050405020304"/>
              </a:rPr>
              <a:t> It is largely based on experience and basic statistics such as batting average, strike rate, and bowling economy, which can be subjective and often fail to capture a player’s complete impact.</a:t>
            </a:r>
            <a:endParaRPr sz="2915" dirty="0">
              <a:latin typeface="Times New Roman" panose="02020603050405020304"/>
              <a:ea typeface="Times New Roman" panose="02020603050405020304"/>
              <a:cs typeface="Times New Roman" panose="02020603050405020304"/>
              <a:sym typeface="Times New Roman" panose="02020603050405020304"/>
            </a:endParaRPr>
          </a:p>
          <a:p>
            <a:pPr marL="1428750" lvl="0" indent="-514350" algn="just" rtl="0">
              <a:lnSpc>
                <a:spcPct val="115000"/>
              </a:lnSpc>
              <a:spcBef>
                <a:spcPts val="0"/>
              </a:spcBef>
              <a:spcAft>
                <a:spcPts val="0"/>
              </a:spcAft>
              <a:buFont typeface="+mj-lt"/>
              <a:buAutoNum type="arabicPeriod"/>
            </a:pPr>
            <a:endParaRPr sz="2915"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1000"/>
              </a:spcBef>
              <a:spcAft>
                <a:spcPts val="0"/>
              </a:spcAft>
              <a:buSzPct val="100000"/>
              <a:buFont typeface="Times New Roman" panose="02020603050405020304"/>
              <a:buAutoNum type="arabicPeriod"/>
            </a:pPr>
            <a:r>
              <a:rPr lang="en-US" sz="2915" b="1" dirty="0">
                <a:latin typeface="Times New Roman" panose="02020603050405020304"/>
                <a:ea typeface="Times New Roman" panose="02020603050405020304"/>
                <a:cs typeface="Times New Roman" panose="02020603050405020304"/>
                <a:sym typeface="Times New Roman" panose="02020603050405020304"/>
              </a:rPr>
              <a:t>Recent research: </a:t>
            </a:r>
            <a:r>
              <a:rPr lang="en-US" sz="2915" dirty="0">
                <a:latin typeface="Times New Roman" panose="02020603050405020304"/>
                <a:ea typeface="Times New Roman" panose="02020603050405020304"/>
                <a:cs typeface="Times New Roman" panose="02020603050405020304"/>
                <a:sym typeface="Times New Roman" panose="02020603050405020304"/>
              </a:rPr>
              <a:t>It incorporates advanced performance metrics- such as impact score, consistency, boundary percentage, and cost efficiency- to enable more accurate player evaluation.</a:t>
            </a:r>
            <a:endParaRPr sz="2915" dirty="0">
              <a:latin typeface="Times New Roman" panose="02020603050405020304"/>
              <a:ea typeface="Times New Roman" panose="02020603050405020304"/>
              <a:cs typeface="Times New Roman" panose="02020603050405020304"/>
              <a:sym typeface="Times New Roman" panose="02020603050405020304"/>
            </a:endParaRPr>
          </a:p>
          <a:p>
            <a:pPr marL="1428750" lvl="0" indent="-514350" algn="just" rtl="0">
              <a:lnSpc>
                <a:spcPct val="115000"/>
              </a:lnSpc>
              <a:spcBef>
                <a:spcPts val="1000"/>
              </a:spcBef>
              <a:spcAft>
                <a:spcPts val="0"/>
              </a:spcAft>
              <a:buFont typeface="+mj-lt"/>
              <a:buAutoNum type="arabicPeriod"/>
            </a:pPr>
            <a:endParaRPr sz="2915"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1000"/>
              </a:spcBef>
              <a:spcAft>
                <a:spcPts val="0"/>
              </a:spcAft>
              <a:buSzPct val="100000"/>
              <a:buFont typeface="Times New Roman" panose="02020603050405020304"/>
              <a:buAutoNum type="arabicPeriod"/>
            </a:pPr>
            <a:r>
              <a:rPr lang="en-US" sz="2915" b="1" dirty="0">
                <a:latin typeface="Times New Roman" panose="02020603050405020304"/>
                <a:ea typeface="Times New Roman" panose="02020603050405020304"/>
                <a:cs typeface="Times New Roman" panose="02020603050405020304"/>
                <a:sym typeface="Times New Roman" panose="02020603050405020304"/>
              </a:rPr>
              <a:t>Optimization techniques: </a:t>
            </a:r>
            <a:r>
              <a:rPr lang="en-US" sz="2915" dirty="0">
                <a:latin typeface="Times New Roman" panose="02020603050405020304"/>
                <a:ea typeface="Times New Roman" panose="02020603050405020304"/>
                <a:cs typeface="Times New Roman" panose="02020603050405020304"/>
                <a:sym typeface="Times New Roman" panose="02020603050405020304"/>
              </a:rPr>
              <a:t>Optimization techniques particularly </a:t>
            </a:r>
            <a:r>
              <a:rPr lang="en-US" sz="2915" b="1" dirty="0">
                <a:latin typeface="Times New Roman" panose="02020603050405020304"/>
                <a:ea typeface="Times New Roman" panose="02020603050405020304"/>
                <a:cs typeface="Times New Roman" panose="02020603050405020304"/>
                <a:sym typeface="Times New Roman" panose="02020603050405020304"/>
              </a:rPr>
              <a:t>Linear Programming</a:t>
            </a:r>
            <a:r>
              <a:rPr lang="en-US" sz="2915" dirty="0">
                <a:latin typeface="Times New Roman" panose="02020603050405020304"/>
                <a:ea typeface="Times New Roman" panose="02020603050405020304"/>
                <a:cs typeface="Times New Roman" panose="02020603050405020304"/>
                <a:sym typeface="Times New Roman" panose="02020603050405020304"/>
              </a:rPr>
              <a:t>, are therefore widely applied in sports analytics for roster construction. LP enables objective squad selection while strictly satisfying constraints related to budget limits, role balance, squad size, and overseas player quotas.</a:t>
            </a:r>
            <a:endParaRPr sz="2915"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roposed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3" name="Google Shape;153;p22"/>
          <p:cNvSpPr txBox="1">
            <a:spLocks noGrp="1"/>
          </p:cNvSpPr>
          <p:nvPr>
            <p:ph type="body" idx="1"/>
          </p:nvPr>
        </p:nvSpPr>
        <p:spPr>
          <a:xfrm>
            <a:off x="838200" y="1184376"/>
            <a:ext cx="10667400" cy="4710000"/>
          </a:xfrm>
          <a:prstGeom prst="rect">
            <a:avLst/>
          </a:prstGeom>
          <a:noFill/>
          <a:ln>
            <a:noFill/>
          </a:ln>
        </p:spPr>
        <p:txBody>
          <a:bodyPr spcFirstLastPara="1" wrap="square" lIns="91425" tIns="45700" rIns="91425" bIns="45700" anchor="ctr" anchorCtr="0">
            <a:spAutoFit/>
          </a:bodyPr>
          <a:lstStyle/>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Collect and preprocess</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historical IPL player performance data.</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Engineer advanced features</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such as Impact Score, Consistency, Cost Efficiency, Replacement Value, and Boundary Percentage.</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Compute a composite Player Performance Score</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using weighted evaluation metrics.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Formulate the squad selection problem</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as a Linear Programming optimization model.</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Incorporate constraints</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including budget cap, squad size, role distribution, overseas player limit, and home-ground strategy.</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Apply the PuLP solver</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to identify the optimal 18-player squad.</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Produce a balanced, objective, and data-driven team selection.</a:t>
            </a:r>
            <a:endParaRPr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fontScale="90000"/>
          </a:bodyPr>
          <a:lstStyle/>
          <a:p>
            <a:pPr marL="15240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roblem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tatement:</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p2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914400" lvl="0" indent="-381000" algn="just" rtl="0">
              <a:lnSpc>
                <a:spcPct val="90000"/>
              </a:lnSpc>
              <a:spcBef>
                <a:spcPts val="0"/>
              </a:spcBef>
              <a:spcAft>
                <a:spcPts val="0"/>
              </a:spcAft>
              <a:buSzPts val="2400"/>
              <a:buFont typeface="Times New Roman" panose="02020603050405020304"/>
              <a:buAutoNum type="arabicPeriod"/>
            </a:pPr>
            <a:r>
              <a:rPr lang="en-US" sz="2400" b="1" dirty="0">
                <a:latin typeface="Times New Roman" panose="02020603050405020304"/>
                <a:ea typeface="Times New Roman" panose="02020603050405020304"/>
                <a:cs typeface="Times New Roman" panose="02020603050405020304"/>
                <a:sym typeface="Times New Roman" panose="02020603050405020304"/>
              </a:rPr>
              <a:t>CSK</a:t>
            </a:r>
            <a:r>
              <a:rPr lang="en-US" sz="2400" dirty="0">
                <a:latin typeface="Times New Roman" panose="02020603050405020304"/>
                <a:ea typeface="Times New Roman" panose="02020603050405020304"/>
                <a:cs typeface="Times New Roman" panose="02020603050405020304"/>
                <a:sym typeface="Times New Roman" panose="02020603050405020304"/>
              </a:rPr>
              <a:t> requires a </a:t>
            </a:r>
            <a:r>
              <a:rPr lang="en-US" sz="2400" b="1" dirty="0">
                <a:latin typeface="Times New Roman" panose="02020603050405020304"/>
                <a:ea typeface="Times New Roman" panose="02020603050405020304"/>
                <a:cs typeface="Times New Roman" panose="02020603050405020304"/>
                <a:sym typeface="Times New Roman" panose="02020603050405020304"/>
              </a:rPr>
              <a:t>quantitative, analytics-driven approach</a:t>
            </a:r>
            <a:r>
              <a:rPr lang="en-US" sz="2400" dirty="0">
                <a:latin typeface="Times New Roman" panose="02020603050405020304"/>
                <a:ea typeface="Times New Roman" panose="02020603050405020304"/>
                <a:cs typeface="Times New Roman" panose="02020603050405020304"/>
                <a:sym typeface="Times New Roman" panose="02020603050405020304"/>
              </a:rPr>
              <a:t> to build its </a:t>
            </a:r>
            <a:r>
              <a:rPr lang="en-US" sz="2400" b="1" dirty="0">
                <a:latin typeface="Times New Roman" panose="02020603050405020304"/>
                <a:ea typeface="Times New Roman" panose="02020603050405020304"/>
                <a:cs typeface="Times New Roman" panose="02020603050405020304"/>
                <a:sym typeface="Times New Roman" panose="02020603050405020304"/>
              </a:rPr>
              <a:t>IPL 2026 squad</a:t>
            </a:r>
            <a:r>
              <a:rPr lang="en-US" sz="2400" dirty="0">
                <a:latin typeface="Times New Roman" panose="02020603050405020304"/>
                <a:ea typeface="Times New Roman" panose="02020603050405020304"/>
                <a:cs typeface="Times New Roman" panose="02020603050405020304"/>
                <a:sym typeface="Times New Roman" panose="02020603050405020304"/>
              </a:rPr>
              <a:t> while adhering to financial limits and league regulations.</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1371600" lvl="0" indent="-457200" algn="just" rtl="0">
              <a:lnSpc>
                <a:spcPct val="90000"/>
              </a:lnSpc>
              <a:spcBef>
                <a:spcPts val="0"/>
              </a:spcBef>
              <a:spcAft>
                <a:spcPts val="0"/>
              </a:spcAft>
              <a:buFont typeface="+mj-lt"/>
              <a:buAutoNum type="arabicPeriod"/>
            </a:pPr>
            <a:endParaRPr sz="2400"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1000"/>
              </a:spcBef>
              <a:spcAft>
                <a:spcPts val="0"/>
              </a:spcAft>
              <a:buSzPts val="24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The objective is to </a:t>
            </a:r>
            <a:r>
              <a:rPr lang="en-US" sz="2400" b="1" dirty="0">
                <a:latin typeface="Times New Roman" panose="02020603050405020304"/>
                <a:ea typeface="Times New Roman" panose="02020603050405020304"/>
                <a:cs typeface="Times New Roman" panose="02020603050405020304"/>
                <a:sym typeface="Times New Roman" panose="02020603050405020304"/>
              </a:rPr>
              <a:t>evaluate and prioritize players using multiple performance indicators</a:t>
            </a:r>
            <a:r>
              <a:rPr lang="en-US" sz="2400" dirty="0">
                <a:latin typeface="Times New Roman" panose="02020603050405020304"/>
                <a:ea typeface="Times New Roman" panose="02020603050405020304"/>
                <a:cs typeface="Times New Roman" panose="02020603050405020304"/>
                <a:sym typeface="Times New Roman" panose="02020603050405020304"/>
              </a:rPr>
              <a:t>, and to </a:t>
            </a:r>
            <a:r>
              <a:rPr lang="en-US" sz="2400" b="1" dirty="0">
                <a:latin typeface="Times New Roman" panose="02020603050405020304"/>
                <a:ea typeface="Times New Roman" panose="02020603050405020304"/>
                <a:cs typeface="Times New Roman" panose="02020603050405020304"/>
                <a:sym typeface="Times New Roman" panose="02020603050405020304"/>
              </a:rPr>
              <a:t>derive an optimal squad and Playing XI</a:t>
            </a:r>
            <a:r>
              <a:rPr lang="en-US" sz="2400" dirty="0">
                <a:latin typeface="Times New Roman" panose="02020603050405020304"/>
                <a:ea typeface="Times New Roman" panose="02020603050405020304"/>
                <a:cs typeface="Times New Roman" panose="02020603050405020304"/>
                <a:sym typeface="Times New Roman" panose="02020603050405020304"/>
              </a:rPr>
              <a:t> that maximizes overall team effectiveness.</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1149350" lvl="0" indent="-514350" algn="l" rtl="0">
              <a:lnSpc>
                <a:spcPct val="90000"/>
              </a:lnSpc>
              <a:spcBef>
                <a:spcPts val="1000"/>
              </a:spcBef>
              <a:spcAft>
                <a:spcPts val="0"/>
              </a:spcAft>
              <a:buClr>
                <a:schemeClr val="dk1"/>
              </a:buClr>
              <a:buSzPts val="2800"/>
              <a:buFont typeface="+mj-lt"/>
              <a:buAutoNum type="arabicPeriod"/>
            </a:pP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equirements:</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24"/>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457200" lvl="0" indent="0" algn="l" rtl="0">
              <a:lnSpc>
                <a:spcPct val="70000"/>
              </a:lnSpc>
              <a:spcBef>
                <a:spcPts val="0"/>
              </a:spcBef>
              <a:spcAft>
                <a:spcPts val="0"/>
              </a:spcAft>
              <a:buClr>
                <a:schemeClr val="dk1"/>
              </a:buClr>
              <a:buSzPts val="2800"/>
              <a:buNone/>
            </a:pPr>
            <a:r>
              <a:rPr lang="en-US" sz="2400" b="1">
                <a:latin typeface="Times New Roman" panose="02020603050405020304"/>
                <a:ea typeface="Times New Roman" panose="02020603050405020304"/>
                <a:cs typeface="Times New Roman" panose="02020603050405020304"/>
                <a:sym typeface="Times New Roman" panose="02020603050405020304"/>
              </a:rPr>
              <a:t>Software Requirements: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Python 3.x.</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Jupyter Notebook / VS Code / Google Colab.</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Libraries: Pandas, NumPy, Matplotlib, Scikit-learn, PuLP.</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Operating System: Windows / Linux / macOS.</a:t>
            </a:r>
            <a:endParaRPr sz="24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1000"/>
              </a:spcBef>
              <a:spcAft>
                <a:spcPts val="0"/>
              </a:spcAft>
              <a:buClr>
                <a:schemeClr val="dk1"/>
              </a:buClr>
              <a:buSzPts val="2800"/>
              <a:buNone/>
            </a:pPr>
            <a:r>
              <a:rPr lang="en-US" sz="2400" b="1">
                <a:latin typeface="Times New Roman" panose="02020603050405020304"/>
                <a:ea typeface="Times New Roman" panose="02020603050405020304"/>
                <a:cs typeface="Times New Roman" panose="02020603050405020304"/>
                <a:sym typeface="Times New Roman" panose="02020603050405020304"/>
              </a:rPr>
              <a:t>Data Requirements: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Historical IPL player statistics.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Auction price and role information.</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lvl="0" indent="-381000" algn="l" rtl="0">
              <a:lnSpc>
                <a:spcPct val="115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Match performance records.</a:t>
            </a: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536275" y="81422"/>
            <a:ext cx="10515600" cy="819300"/>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A</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dvantages </a:t>
            </a:r>
            <a:r>
              <a:rPr lang="en-US" sz="3645" b="1">
                <a:solidFill>
                  <a:srgbClr val="2F5496"/>
                </a:solidFill>
                <a:latin typeface="Times New Roman" panose="02020603050405020304"/>
                <a:ea typeface="Times New Roman" panose="02020603050405020304"/>
                <a:cs typeface="Times New Roman" panose="02020603050405020304"/>
                <a:sym typeface="Times New Roman" panose="02020603050405020304"/>
              </a:rPr>
              <a:t>o</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f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roposed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3" name="Google Shape;1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4" name="Google Shape;174;p25"/>
          <p:cNvSpPr txBox="1">
            <a:spLocks noGrp="1"/>
          </p:cNvSpPr>
          <p:nvPr>
            <p:ph type="body" idx="1"/>
          </p:nvPr>
        </p:nvSpPr>
        <p:spPr>
          <a:xfrm>
            <a:off x="175375" y="775462"/>
            <a:ext cx="11852700" cy="5134800"/>
          </a:xfrm>
          <a:prstGeom prst="rect">
            <a:avLst/>
          </a:prstGeom>
          <a:noFill/>
          <a:ln>
            <a:noFill/>
          </a:ln>
        </p:spPr>
        <p:txBody>
          <a:bodyPr spcFirstLastPara="1" wrap="square" lIns="91425" tIns="45700" rIns="91425" bIns="45700" anchor="ctr" anchorCtr="0">
            <a:spAutoFit/>
          </a:bodyPr>
          <a:lstStyle/>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Objective decision-making</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by reducing human bias through data-driven evaluation.</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Comprehensive player assessment</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using advanced metrics beyond traditional statistics.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Optimal budget utilization</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strictly adhering to IPL auction constraints.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Balanced squad composition</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with proper role distribution and overseas player limits.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Scalable and adaptable framework</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that can be updated with new data each season.</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Transparent and explainable selection process</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easy to justify to stakeholders.</a:t>
            </a:r>
            <a:endParaRPr sz="2400">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Improved team performance potential</a:t>
            </a:r>
            <a:r>
              <a:rPr 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by maximizing overall squad impact rather than individual reputation.</a:t>
            </a:r>
            <a:endParaRPr sz="2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590" b="1">
                <a:solidFill>
                  <a:srgbClr val="0070C0"/>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eview </a:t>
            </a: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T</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imeline:</a:t>
            </a:r>
            <a:endPar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 name="Google Shape;1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graphicFrame>
        <p:nvGraphicFramePr>
          <p:cNvPr id="8" name="Content Placeholder 7"/>
          <p:cNvGraphicFramePr>
            <a:graphicFrameLocks noGrp="1"/>
          </p:cNvGraphicFramePr>
          <p:nvPr>
            <p:ph idx="1"/>
          </p:nvPr>
        </p:nvGraphicFramePr>
        <p:xfrm>
          <a:off x="316230" y="90124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Text Box 4"/>
          <p:cNvSpPr txBox="1"/>
          <p:nvPr/>
        </p:nvSpPr>
        <p:spPr>
          <a:xfrm>
            <a:off x="2433320" y="1783080"/>
            <a:ext cx="1631950" cy="2479675"/>
          </a:xfrm>
          <a:prstGeom prst="rect">
            <a:avLst/>
          </a:prstGeom>
          <a:noFill/>
        </p:spPr>
        <p:txBody>
          <a:bodyPr wrap="square" rtlCol="0">
            <a:noAutofit/>
          </a:bodyPr>
          <a:p>
            <a:r>
              <a:rPr lang="en-US" altLang="en-GB"/>
              <a:t>Company orientation,</a:t>
            </a:r>
            <a:endParaRPr lang="en-US" altLang="en-GB"/>
          </a:p>
          <a:p>
            <a:r>
              <a:rPr lang="en-US" altLang="en-GB"/>
              <a:t>Tool setup,</a:t>
            </a:r>
            <a:endParaRPr lang="en-US" altLang="en-GB"/>
          </a:p>
          <a:p>
            <a:r>
              <a:rPr lang="en-US" altLang="en-GB"/>
              <a:t>Python &amp; SQL basics,</a:t>
            </a:r>
            <a:endParaRPr lang="en-US" altLang="en-GB"/>
          </a:p>
          <a:p>
            <a:r>
              <a:rPr lang="en-US" altLang="en-GB"/>
              <a:t>Dataset understanding</a:t>
            </a:r>
            <a:endParaRPr lang="en-US" altLang="en-GB"/>
          </a:p>
        </p:txBody>
      </p:sp>
      <p:sp>
        <p:nvSpPr>
          <p:cNvPr id="7" name="Text Box 6"/>
          <p:cNvSpPr txBox="1"/>
          <p:nvPr>
            <p:custDataLst>
              <p:tags r:id="rId6"/>
            </p:custDataLst>
          </p:nvPr>
        </p:nvSpPr>
        <p:spPr>
          <a:xfrm>
            <a:off x="3715385" y="1783080"/>
            <a:ext cx="1346200" cy="2448560"/>
          </a:xfrm>
          <a:prstGeom prst="rect">
            <a:avLst/>
          </a:prstGeom>
          <a:noFill/>
        </p:spPr>
        <p:txBody>
          <a:bodyPr wrap="square" rtlCol="0">
            <a:noAutofit/>
          </a:bodyPr>
          <a:p>
            <a:r>
              <a:rPr lang="en-US" altLang="en-GB"/>
              <a:t>Data cleaning,</a:t>
            </a:r>
            <a:endParaRPr lang="en-US" altLang="en-GB"/>
          </a:p>
          <a:p>
            <a:r>
              <a:rPr lang="en-US" altLang="en-GB"/>
              <a:t>SQL queries,</a:t>
            </a:r>
            <a:endParaRPr lang="en-US" altLang="en-GB"/>
          </a:p>
          <a:p>
            <a:r>
              <a:rPr lang="en-US" altLang="en-GB"/>
              <a:t>Exploratory analysis,</a:t>
            </a:r>
            <a:endParaRPr lang="en-US" altLang="en-GB"/>
          </a:p>
          <a:p>
            <a:r>
              <a:rPr lang="en-US" altLang="en-GB"/>
              <a:t>Basic insights</a:t>
            </a:r>
            <a:endParaRPr lang="en-US" altLang="en-GB"/>
          </a:p>
        </p:txBody>
      </p:sp>
      <p:sp>
        <p:nvSpPr>
          <p:cNvPr id="9" name="Text Box 8"/>
          <p:cNvSpPr txBox="1"/>
          <p:nvPr>
            <p:custDataLst>
              <p:tags r:id="rId7"/>
            </p:custDataLst>
          </p:nvPr>
        </p:nvSpPr>
        <p:spPr>
          <a:xfrm>
            <a:off x="5061585" y="1783080"/>
            <a:ext cx="1618615" cy="2800350"/>
          </a:xfrm>
          <a:prstGeom prst="rect">
            <a:avLst/>
          </a:prstGeom>
          <a:noFill/>
        </p:spPr>
        <p:txBody>
          <a:bodyPr wrap="square" rtlCol="0">
            <a:noAutofit/>
          </a:bodyPr>
          <a:p>
            <a:r>
              <a:rPr lang="en-US" altLang="en-GB"/>
              <a:t>Advanced analysis,</a:t>
            </a:r>
            <a:endParaRPr lang="en-US" altLang="en-GB"/>
          </a:p>
          <a:p>
            <a:r>
              <a:rPr lang="en-US" altLang="en-GB"/>
              <a:t>Visualization,</a:t>
            </a:r>
            <a:endParaRPr lang="en-US" altLang="en-GB"/>
          </a:p>
          <a:p>
            <a:r>
              <a:rPr lang="en-US" altLang="en-GB"/>
              <a:t>Trend identification,</a:t>
            </a:r>
            <a:endParaRPr lang="en-US" altLang="en-GB"/>
          </a:p>
          <a:p>
            <a:r>
              <a:rPr lang="en-US" altLang="en-GB"/>
              <a:t>KPI extraction</a:t>
            </a:r>
            <a:endParaRPr lang="en-US" altLang="en-GB"/>
          </a:p>
        </p:txBody>
      </p:sp>
      <p:sp>
        <p:nvSpPr>
          <p:cNvPr id="10" name="Text Box 9"/>
          <p:cNvSpPr txBox="1"/>
          <p:nvPr>
            <p:custDataLst>
              <p:tags r:id="rId8"/>
            </p:custDataLst>
          </p:nvPr>
        </p:nvSpPr>
        <p:spPr>
          <a:xfrm>
            <a:off x="6337300" y="1783080"/>
            <a:ext cx="1356995" cy="2109470"/>
          </a:xfrm>
          <a:prstGeom prst="rect">
            <a:avLst/>
          </a:prstGeom>
          <a:noFill/>
        </p:spPr>
        <p:txBody>
          <a:bodyPr wrap="square" rtlCol="0">
            <a:noAutofit/>
          </a:bodyPr>
          <a:p>
            <a:r>
              <a:rPr lang="en-US" altLang="en-GB"/>
              <a:t>Dashboard creation</a:t>
            </a:r>
            <a:endParaRPr lang="en-US" altLang="en-GB"/>
          </a:p>
          <a:p>
            <a:r>
              <a:rPr lang="en-US" altLang="en-GB"/>
              <a:t>Report automation</a:t>
            </a:r>
            <a:endParaRPr lang="en-US" altLang="en-GB"/>
          </a:p>
          <a:p>
            <a:r>
              <a:rPr lang="en-US" altLang="en-GB"/>
              <a:t>Insight validation</a:t>
            </a:r>
            <a:endParaRPr lang="en-US" altLang="en-GB"/>
          </a:p>
          <a:p>
            <a:r>
              <a:rPr lang="en-US" altLang="en-GB"/>
              <a:t>Mentor feedback</a:t>
            </a:r>
            <a:endParaRPr lang="en-US" altLang="en-GB"/>
          </a:p>
        </p:txBody>
      </p:sp>
      <p:sp>
        <p:nvSpPr>
          <p:cNvPr id="11" name="Text Box 10"/>
          <p:cNvSpPr txBox="1"/>
          <p:nvPr>
            <p:custDataLst>
              <p:tags r:id="rId9"/>
            </p:custDataLst>
          </p:nvPr>
        </p:nvSpPr>
        <p:spPr>
          <a:xfrm>
            <a:off x="7517765" y="1783080"/>
            <a:ext cx="1695450" cy="3258185"/>
          </a:xfrm>
          <a:prstGeom prst="rect">
            <a:avLst/>
          </a:prstGeom>
          <a:noFill/>
        </p:spPr>
        <p:txBody>
          <a:bodyPr wrap="square" rtlCol="0">
            <a:noAutofit/>
          </a:bodyPr>
          <a:p>
            <a:r>
              <a:rPr lang="en-US" altLang="en-GB"/>
              <a:t>Optimized analysis,Final dashboard,</a:t>
            </a:r>
            <a:endParaRPr lang="en-US" altLang="en-GB"/>
          </a:p>
          <a:p>
            <a:r>
              <a:rPr lang="en-US" altLang="en-GB"/>
              <a:t>Documentation,</a:t>
            </a:r>
            <a:endParaRPr lang="en-US" altLang="en-GB"/>
          </a:p>
          <a:p>
            <a:r>
              <a:rPr lang="en-US" altLang="en-GB"/>
              <a:t>Project presentation</a:t>
            </a:r>
            <a:endParaRPr lang="en-US" alt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556350" y="365125"/>
            <a:ext cx="10515600" cy="596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590" b="1">
                <a:solidFill>
                  <a:srgbClr val="0070C0"/>
                </a:solidFill>
                <a:latin typeface="Times New Roman" panose="02020603050405020304"/>
                <a:ea typeface="Times New Roman" panose="02020603050405020304"/>
                <a:cs typeface="Times New Roman" panose="02020603050405020304"/>
                <a:sym typeface="Times New Roman" panose="02020603050405020304"/>
              </a:rPr>
              <a:t>G</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ithub </a:t>
            </a: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L</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ink:</a:t>
            </a:r>
            <a:endPar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8" name="Google Shape;208;p27"/>
          <p:cNvSpPr/>
          <p:nvPr/>
        </p:nvSpPr>
        <p:spPr>
          <a:xfrm>
            <a:off x="772500" y="2605400"/>
            <a:ext cx="10647000" cy="15030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4400">
                <a:solidFill>
                  <a:srgbClr val="0070C0"/>
                </a:solidFill>
                <a:sym typeface="+mn-ea"/>
              </a:rPr>
              <a:t>https://github.com/chirag7823/Internship</a:t>
            </a:r>
            <a:endParaRPr sz="1900">
              <a:latin typeface="Calibri" panose="020F0502020204030204"/>
              <a:ea typeface="Calibri" panose="020F0502020204030204"/>
              <a:cs typeface="Calibri" panose="020F0502020204030204"/>
              <a:sym typeface="Calibri" panose="020F0502020204030204"/>
            </a:endParaRPr>
          </a:p>
        </p:txBody>
      </p:sp>
      <p:sp>
        <p:nvSpPr>
          <p:cNvPr id="209" name="Google Shape;209;p27"/>
          <p:cNvSpPr/>
          <p:nvPr/>
        </p:nvSpPr>
        <p:spPr>
          <a:xfrm rot="-1971703">
            <a:off x="8400073" y="3707221"/>
            <a:ext cx="702157" cy="949717"/>
          </a:xfrm>
          <a:prstGeom prst="upArrow">
            <a:avLst>
              <a:gd name="adj1" fmla="val 49786"/>
              <a:gd name="adj2" fmla="val 7886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panose="02020603050405020304"/>
                <a:ea typeface="Times New Roman" panose="02020603050405020304"/>
                <a:cs typeface="Times New Roman" panose="02020603050405020304"/>
                <a:sym typeface="Times New Roman" panose="02020603050405020304"/>
              </a:rPr>
              <a:t>  </a:t>
            </a:r>
            <a:r>
              <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rPr>
              <a:t>Q&amp;A</a:t>
            </a:r>
            <a:endPar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 name="Google Shape;21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fld>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216" name="Google Shape;216;p28" descr="bd04924_"/>
          <p:cNvPicPr preferRelativeResize="0"/>
          <p:nvPr/>
        </p:nvPicPr>
        <p:blipFill rotWithShape="1">
          <a:blip r:embed="rId1"/>
          <a:srcRect/>
          <a:stretch>
            <a:fillRect/>
          </a:stretch>
        </p:blipFill>
        <p:spPr>
          <a:xfrm>
            <a:off x="4833020" y="2150340"/>
            <a:ext cx="2841171" cy="38324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9"/>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rPr>
              <a:t>Thank you!</a:t>
            </a:r>
            <a:endPar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ags/tag1.xml><?xml version="1.0" encoding="utf-8"?>
<p:tagLst xmlns:p="http://schemas.openxmlformats.org/presentationml/2006/main">
  <p:tag name="TABLE_ENDDRAG_ORIGIN_RECT" val="437*151"/>
  <p:tag name="TABLE_ENDDRAG_RECT" val="29*113*437*151"/>
</p:tagLst>
</file>

<file path=ppt/tags/tag2.xml><?xml version="1.0" encoding="utf-8"?>
<p:tagLst xmlns:p="http://schemas.openxmlformats.org/presentationml/2006/main">
  <p:tag name="KSO_WM_DIAGRAM_VIRTUALLY_FRAME" val="{&quot;height&quot;:256.55,&quot;left&quot;:313.85,&quot;top&quot;:140.4,&quot;width&quot;:425.5}"/>
</p:tagLst>
</file>

<file path=ppt/tags/tag3.xml><?xml version="1.0" encoding="utf-8"?>
<p:tagLst xmlns:p="http://schemas.openxmlformats.org/presentationml/2006/main">
  <p:tag name="KSO_WM_DIAGRAM_VIRTUALLY_FRAME" val="{&quot;height&quot;:256.55,&quot;left&quot;:313.85,&quot;top&quot;:140.4,&quot;width&quot;:425.5}"/>
</p:tagLst>
</file>

<file path=ppt/tags/tag4.xml><?xml version="1.0" encoding="utf-8"?>
<p:tagLst xmlns:p="http://schemas.openxmlformats.org/presentationml/2006/main">
  <p:tag name="KSO_WM_DIAGRAM_VIRTUALLY_FRAME" val="{&quot;height&quot;:256.55,&quot;left&quot;:313.85,&quot;top&quot;:140.4,&quot;width&quot;:425.5}"/>
</p:tagLst>
</file>

<file path=ppt/tags/tag5.xml><?xml version="1.0" encoding="utf-8"?>
<p:tagLst xmlns:p="http://schemas.openxmlformats.org/presentationml/2006/main">
  <p:tag name="KSO_WM_DIAGRAM_VIRTUALLY_FRAME" val="{&quot;height&quot;:256.55,&quot;left&quot;:313.85,&quot;top&quot;:140.4,&quot;width&quot;:425.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5708</Words>
  <Application>WPS Presentation</Application>
  <PresentationFormat>Widescreen</PresentationFormat>
  <Paragraphs>229</Paragraphs>
  <Slides>17</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17</vt:i4>
      </vt:variant>
    </vt:vector>
  </HeadingPairs>
  <TitlesOfParts>
    <vt:vector size="33" baseType="lpstr">
      <vt:lpstr>Arial</vt:lpstr>
      <vt:lpstr>SimSun</vt:lpstr>
      <vt:lpstr>Wingdings</vt:lpstr>
      <vt:lpstr>Arial</vt:lpstr>
      <vt:lpstr>Calibri</vt:lpstr>
      <vt:lpstr>Cambria</vt:lpstr>
      <vt:lpstr>Verdana</vt:lpstr>
      <vt:lpstr>Times New Roman</vt:lpstr>
      <vt:lpstr>Tahoma</vt:lpstr>
      <vt:lpstr>Times New Roman</vt:lpstr>
      <vt:lpstr>Cambria</vt:lpstr>
      <vt:lpstr>Noto Sans Symbols</vt:lpstr>
      <vt:lpstr>Microsoft YaHei</vt:lpstr>
      <vt:lpstr>Arial Unicode MS</vt:lpstr>
      <vt:lpstr>Segoe Print</vt:lpstr>
      <vt:lpstr>Office Theme</vt:lpstr>
      <vt:lpstr>PowerPoint 演示文稿</vt:lpstr>
      <vt:lpstr>CONTENT:</vt:lpstr>
      <vt:lpstr>Company Brief:</vt:lpstr>
      <vt:lpstr>Working Domain:</vt:lpstr>
      <vt:lpstr>Working Domain Continued…</vt:lpstr>
      <vt:lpstr>Team Composition:</vt:lpstr>
      <vt:lpstr>Challenges Faced:</vt:lpstr>
      <vt:lpstr>Objective:</vt:lpstr>
      <vt:lpstr>Literature Review:</vt:lpstr>
      <vt:lpstr>Proposed System:</vt:lpstr>
      <vt:lpstr>Problem Statement:</vt:lpstr>
      <vt:lpstr>System Requirements:</vt:lpstr>
      <vt:lpstr>Advantages of Proposed System:</vt:lpstr>
      <vt:lpstr>Internship Road Map</vt:lpstr>
      <vt:lpstr>Github Link:</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Chirag BA</cp:lastModifiedBy>
  <cp:revision>9</cp:revision>
  <dcterms:created xsi:type="dcterms:W3CDTF">2026-02-05T17:04:00Z</dcterms:created>
  <dcterms:modified xsi:type="dcterms:W3CDTF">2026-02-05T17:32:41Z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F60F86D856794ACDB21E2B10F2A9AD79_12</vt:lpwstr>
  </property>
  <property fmtid="{D5CDD505-2E9C-101B-9397-08002B2CF9AE}" pid="3" name="KSOProductBuildVer">
    <vt:lpwstr>2057-12.2.0.23158</vt:lpwstr>
  </property>
</Properties>
</file>