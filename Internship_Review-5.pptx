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3bc7949f234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86" name="Google Shape;86;g3bc7949f234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5" name="Google Shape;11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2" name="Google Shape;1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3" name="Google Shape;14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8"/>
        <p:cNvGrpSpPr/>
        <p:nvPr/>
      </p:nvGrpSpPr>
      <p:grpSpPr>
        <a:xfrm>
          <a:off x="0" y="0"/>
          <a:ext cx="0" cy="0"/>
          <a:chOff x="0" y="0"/>
          <a:chExt cx="0" cy="0"/>
        </a:xfrm>
      </p:grpSpPr>
      <p:sp>
        <p:nvSpPr>
          <p:cNvPr id="149" name="Google Shape;14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0" name="Google Shape;15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5"/>
        <p:cNvGrpSpPr/>
        <p:nvPr/>
      </p:nvGrpSpPr>
      <p:grpSpPr>
        <a:xfrm>
          <a:off x="0" y="0"/>
          <a:ext cx="0" cy="0"/>
          <a:chOff x="0" y="0"/>
          <a:chExt cx="0" cy="0"/>
        </a:xfrm>
      </p:grpSpPr>
      <p:sp>
        <p:nvSpPr>
          <p:cNvPr id="156" name="Google Shape;15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7" name="Google Shape;15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4" name="Google Shape;16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9"/>
        <p:cNvGrpSpPr/>
        <p:nvPr/>
      </p:nvGrpSpPr>
      <p:grpSpPr>
        <a:xfrm>
          <a:off x="0" y="0"/>
          <a:ext cx="0" cy="0"/>
          <a:chOff x="0" y="0"/>
          <a:chExt cx="0" cy="0"/>
        </a:xfrm>
      </p:grpSpPr>
      <p:sp>
        <p:nvSpPr>
          <p:cNvPr id="170" name="Google Shape;17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1" name="Google Shape;1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8" name="Google Shape;19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3"/>
        <p:cNvGrpSpPr/>
        <p:nvPr/>
      </p:nvGrpSpPr>
      <p:grpSpPr>
        <a:xfrm>
          <a:off x="0" y="0"/>
          <a:ext cx="0" cy="0"/>
          <a:chOff x="0" y="0"/>
          <a:chExt cx="0" cy="0"/>
        </a:xfrm>
      </p:grpSpPr>
      <p:sp>
        <p:nvSpPr>
          <p:cNvPr id="204" name="Google Shape;20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05" name="Google Shape;20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1" name="Google Shape;21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blipFill>
          <a:blip r:embed="rId2"/>
          <a:stretch>
            <a:fillRect/>
          </a:stretch>
        </a:blipFill>
        <a:effectLst/>
      </p:bgPr>
    </p:bg>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20"/>
          <p:cNvSpPr txBox="1">
            <a:spLocks noGrp="1"/>
          </p:cNvSpPr>
          <p:nvPr>
            <p:ph type="dt" idx="10"/>
          </p:nvPr>
        </p:nvSpPr>
        <p:spPr>
          <a:xfrm>
            <a:off x="838200" y="6356350"/>
            <a:ext cx="10096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3" name="Google Shape;43;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4"/>
        <p:cNvGrpSpPr/>
        <p:nvPr/>
      </p:nvGrpSpPr>
      <p:grpSpPr>
        <a:xfrm>
          <a:off x="0" y="0"/>
          <a:ext cx="0" cy="0"/>
          <a:chOff x="0" y="0"/>
          <a:chExt cx="0" cy="0"/>
        </a:xfrm>
      </p:grpSpPr>
      <p:sp>
        <p:nvSpPr>
          <p:cNvPr id="55" name="Google Shape;5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a:spLocks noGrp="1"/>
          </p:cNvSpPr>
          <p:nvPr>
            <p:ph type="pic" idx="2"/>
          </p:nvPr>
        </p:nvSpPr>
        <p:spPr>
          <a:xfrm>
            <a:off x="5183188" y="987425"/>
            <a:ext cx="6172200" cy="4873625"/>
          </a:xfrm>
          <a:prstGeom prst="rect">
            <a:avLst/>
          </a:prstGeom>
          <a:noFill/>
          <a:ln>
            <a:noFill/>
          </a:ln>
        </p:spPr>
      </p:sp>
      <p:sp>
        <p:nvSpPr>
          <p:cNvPr id="68" name="Google Shape;68;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hyperlink" Target="https://docs.google.com/spreadsheets/d/1_azwkN5nxKBeWa-GqM3sn02x9CgDlKdxXKAd8swtOH0/edit?usp=drivesdk"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2" name="Google Shape;90;p13"/>
          <p:cNvSpPr txBox="1"/>
          <p:nvPr/>
        </p:nvSpPr>
        <p:spPr>
          <a:xfrm>
            <a:off x="6285230" y="1859280"/>
            <a:ext cx="5754370" cy="22707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Mr. H. Senthil Kumar </a:t>
            </a:r>
            <a:endPar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of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7"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BTech Computer Science and Engineering</a:t>
            </a:r>
            <a:endPar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altLang="en-GB"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altLang="en-GB" sz="2000" b="1"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Dr.Asif Mohammed </a:t>
            </a:r>
            <a:endParaRPr lang="en-US" altLang="en-GB"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Internship Coordinator:  </a:t>
            </a:r>
            <a:r>
              <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Mr Sakthi S</a:t>
            </a:r>
            <a:endPar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a:t>
            </a:r>
            <a:r>
              <a:rPr lang="en-US"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School Internship Coordinator: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D</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r</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Md Ziaur </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Rahman</a:t>
            </a:r>
            <a:endPar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smtClean="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smtClean="0">
                <a:solidFill>
                  <a:srgbClr val="FF0000"/>
                </a:solidFill>
                <a:latin typeface="Times New Roman" panose="02020603050405020304" pitchFamily="18" charset="0"/>
                <a:cs typeface="Times New Roman" panose="02020603050405020304" pitchFamily="18" charset="0"/>
              </a:rPr>
            </a:br>
            <a: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Review-5 Presentation </a:t>
            </a:r>
            <a:b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sym typeface="+mn-ea"/>
              </a:rPr>
              <a:t>DATA  ANALYST</a:t>
            </a:r>
            <a:b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sym typeface="+mn-ea"/>
              </a:rPr>
            </a:br>
            <a:endParaRPr lang="en-US" sz="2400"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custDataLst>
              <p:tags r:id="rId1"/>
            </p:custDataLst>
          </p:nvPr>
        </p:nvGraphicFramePr>
        <p:xfrm>
          <a:off x="447675" y="1765300"/>
          <a:ext cx="5552440" cy="1922780"/>
        </p:xfrm>
        <a:graphic>
          <a:graphicData uri="http://schemas.openxmlformats.org/drawingml/2006/table">
            <a:tbl>
              <a:tblPr firstRow="1" bandRow="1">
                <a:tableStyleId>{5C22544A-7EE6-4342-B048-85BDC9FD1C3A}</a:tableStyleId>
              </a:tblPr>
              <a:tblGrid>
                <a:gridCol w="1430655"/>
                <a:gridCol w="4121785"/>
              </a:tblGrid>
              <a:tr h="480695">
                <a:tc gridSpan="2">
                  <a:txBody>
                    <a:bodyPr/>
                    <a:lstStyle/>
                    <a:p>
                      <a:pPr algn="ctr"/>
                      <a:r>
                        <a:rPr lang="en-US" sz="1800"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sz="1800" dirty="0">
                        <a:latin typeface="Cambria" panose="02040503050406030204" pitchFamily="18" charset="0"/>
                        <a:ea typeface="Cambria" panose="02040503050406030204" pitchFamily="18" charset="0"/>
                        <a:cs typeface="Times New Roman" panose="02020603050405020304" pitchFamily="18" charset="0"/>
                      </a:endParaRPr>
                    </a:p>
                  </a:txBody>
                  <a:tcPr/>
                </a:tc>
                <a:tc hMerge="1">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sz="1800" b="1" dirty="0" smtClean="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Chirag BA</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20221CSE0314</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8SIC01</a:t>
                      </a: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algn="ctr"/>
                      <a:endParaRPr lang="en-US" sz="1800"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3250"/>
              <a:buFont typeface="Arial" panose="020B0604020202020204"/>
              <a:buNone/>
            </a:pPr>
            <a:r>
              <a:rPr lang="en-US" sz="32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CONTENT:</a:t>
            </a:r>
            <a:endParaRPr sz="32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7" name="Google Shape;97;p2"/>
          <p:cNvSpPr txBox="1"/>
          <p:nvPr/>
        </p:nvSpPr>
        <p:spPr>
          <a:xfrm>
            <a:off x="704516" y="1027630"/>
            <a:ext cx="10668000" cy="4271100"/>
          </a:xfrm>
          <a:prstGeom prst="rect">
            <a:avLst/>
          </a:prstGeom>
          <a:noFill/>
          <a:ln>
            <a:noFill/>
          </a:ln>
        </p:spPr>
        <p:txBody>
          <a:bodyPr spcFirstLastPara="1" wrap="square" lIns="91425" tIns="45700" rIns="91425" bIns="45700" anchor="t" anchorCtr="0">
            <a:noAutofit/>
          </a:bodyPr>
          <a:lstStyle/>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Company Brief.</a:t>
            </a:r>
            <a:endParaRPr sz="2800" b="0" i="0" u="none" strike="noStrike" cap="none">
              <a:solidFill>
                <a:srgbClr val="2F5496"/>
              </a:solidFill>
              <a:latin typeface="Calibri" panose="020F0502020204030204"/>
              <a:ea typeface="Calibri" panose="020F0502020204030204"/>
              <a:cs typeface="Calibri" panose="020F0502020204030204"/>
              <a:sym typeface="Calibri" panose="020F0502020204030204"/>
            </a:endParaRPr>
          </a:p>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Working Domain.</a:t>
            </a:r>
            <a:endParaRPr sz="20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Team Composition.</a:t>
            </a:r>
            <a:endParaRPr sz="20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Challenges Faced.</a:t>
            </a:r>
            <a:endParaRPr sz="20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Objectives.</a:t>
            </a:r>
            <a:endPara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Literature Review.</a:t>
            </a:r>
            <a:endPara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Proposed System.</a:t>
            </a:r>
            <a:endPara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Problem Statement.</a:t>
            </a:r>
            <a:endPara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System Requirements.</a:t>
            </a:r>
            <a:endPara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Advantages of Proposed System.</a:t>
            </a:r>
            <a:endPara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Review Timeline.</a:t>
            </a:r>
            <a:endPara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914400" marR="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Github Link.</a:t>
            </a:r>
            <a:endParaRPr sz="20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495300" marR="0" lvl="0" indent="-190500" algn="just" rtl="0">
              <a:lnSpc>
                <a:spcPct val="100000"/>
              </a:lnSpc>
              <a:spcBef>
                <a:spcPts val="0"/>
              </a:spcBef>
              <a:spcAft>
                <a:spcPts val="0"/>
              </a:spcAft>
              <a:buClr>
                <a:srgbClr val="000000"/>
              </a:buClr>
              <a:buSzPts val="2000"/>
              <a:buFont typeface="Arial" panose="020B0604020202020204"/>
              <a:buNone/>
            </a:pPr>
            <a:endParaRPr sz="20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p:nvPr/>
        </p:nvSpPr>
        <p:spPr>
          <a:xfrm>
            <a:off x="838200" y="365126"/>
            <a:ext cx="10515600" cy="6798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3250"/>
              <a:buFont typeface="Arial" panose="020B0604020202020204"/>
              <a:buNone/>
            </a:pPr>
            <a:r>
              <a:rPr lang="en-US" sz="325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Company Brief:</a:t>
            </a:r>
            <a:endParaRPr sz="3250" b="0" i="0" u="none" strike="noStrike" cap="none">
              <a:solidFill>
                <a:srgbClr val="2F5496"/>
              </a:solidFill>
              <a:latin typeface="Calibri" panose="020F0502020204030204"/>
              <a:ea typeface="Calibri" panose="020F0502020204030204"/>
              <a:cs typeface="Calibri" panose="020F0502020204030204"/>
              <a:sym typeface="Calibri" panose="020F0502020204030204"/>
            </a:endParaRPr>
          </a:p>
        </p:txBody>
      </p:sp>
      <p:sp>
        <p:nvSpPr>
          <p:cNvPr id="103" name="Google Shape;103;p3"/>
          <p:cNvSpPr txBox="1"/>
          <p:nvPr/>
        </p:nvSpPr>
        <p:spPr>
          <a:xfrm>
            <a:off x="838200" y="1342518"/>
            <a:ext cx="10515600" cy="461370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just" rtl="0">
              <a:lnSpc>
                <a:spcPct val="100000"/>
              </a:lnSpc>
              <a:spcBef>
                <a:spcPts val="0"/>
              </a:spcBef>
              <a:spcAft>
                <a:spcPts val="0"/>
              </a:spcAft>
              <a:buClr>
                <a:srgbClr val="000000"/>
              </a:buClr>
              <a:buSzPct val="100000"/>
              <a:buFont typeface="Arial" panose="020B0604020202020204"/>
              <a:buNone/>
            </a:pPr>
            <a:r>
              <a:rPr lang="en-US" sz="973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About Nineleaps:</a:t>
            </a:r>
            <a:endParaRPr sz="973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2905" algn="just" rtl="0">
              <a:lnSpc>
                <a:spcPct val="115000"/>
              </a:lnSpc>
              <a:spcBef>
                <a:spcPts val="1000"/>
              </a:spcBef>
              <a:spcAft>
                <a:spcPts val="0"/>
              </a:spcAft>
              <a:buClr>
                <a:srgbClr val="000000"/>
              </a:buClr>
              <a:buSzPct val="100000"/>
              <a:buFont typeface="Times New Roman" panose="02020603050405020304"/>
              <a:buAutoNum type="arabicPeriod"/>
            </a:pPr>
            <a:r>
              <a:rPr lang="en-US" sz="973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Nineleaps is a data and analytics consulting company that focuses on helping organizations become data-driven. The company works with clients across multiple industries to solve business problems using data analytics, artificial intelligence, and digital transformation.</a:t>
            </a:r>
            <a:endParaRPr sz="973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28600" marR="0" lvl="0" indent="0" algn="just" rtl="0">
              <a:lnSpc>
                <a:spcPct val="100000"/>
              </a:lnSpc>
              <a:spcBef>
                <a:spcPts val="0"/>
              </a:spcBef>
              <a:spcAft>
                <a:spcPts val="0"/>
              </a:spcAft>
              <a:buClr>
                <a:srgbClr val="000000"/>
              </a:buClr>
              <a:buSzPct val="100000"/>
              <a:buFont typeface="Arial" panose="020B0604020202020204"/>
              <a:buNone/>
            </a:pPr>
            <a:endParaRPr sz="973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15000"/>
              </a:lnSpc>
              <a:spcBef>
                <a:spcPts val="0"/>
              </a:spcBef>
              <a:spcAft>
                <a:spcPts val="0"/>
              </a:spcAft>
              <a:buClr>
                <a:srgbClr val="000000"/>
              </a:buClr>
              <a:buSzPct val="100000"/>
              <a:buFont typeface="Arial" panose="020B0604020202020204"/>
              <a:buNone/>
            </a:pPr>
            <a:r>
              <a:rPr lang="en-US" sz="973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Services &amp; Offerings:</a:t>
            </a:r>
            <a:endParaRPr sz="973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2905" algn="just" rtl="0">
              <a:lnSpc>
                <a:spcPct val="115000"/>
              </a:lnSpc>
              <a:spcBef>
                <a:spcPts val="1000"/>
              </a:spcBef>
              <a:spcAft>
                <a:spcPts val="0"/>
              </a:spcAft>
              <a:buClr>
                <a:srgbClr val="000000"/>
              </a:buClr>
              <a:buSzPct val="100000"/>
              <a:buFont typeface="Times New Roman" panose="02020603050405020304"/>
              <a:buAutoNum type="arabicPeriod"/>
            </a:pPr>
            <a:r>
              <a:rPr lang="en-US" sz="973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Data Analytics &amp; Business Intelligence.</a:t>
            </a:r>
            <a:endParaRPr sz="973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2905" algn="just" rtl="0">
              <a:lnSpc>
                <a:spcPct val="115000"/>
              </a:lnSpc>
              <a:spcBef>
                <a:spcPts val="0"/>
              </a:spcBef>
              <a:spcAft>
                <a:spcPts val="0"/>
              </a:spcAft>
              <a:buClr>
                <a:srgbClr val="000000"/>
              </a:buClr>
              <a:buSzPct val="100000"/>
              <a:buFont typeface="Times New Roman" panose="02020603050405020304"/>
              <a:buAutoNum type="arabicPeriod"/>
            </a:pPr>
            <a:r>
              <a:rPr lang="en-US" sz="973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Data Engineering &amp; Cloud Solutions.</a:t>
            </a:r>
            <a:endParaRPr sz="973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2905" algn="just" rtl="0">
              <a:lnSpc>
                <a:spcPct val="115000"/>
              </a:lnSpc>
              <a:spcBef>
                <a:spcPts val="0"/>
              </a:spcBef>
              <a:spcAft>
                <a:spcPts val="0"/>
              </a:spcAft>
              <a:buClr>
                <a:srgbClr val="000000"/>
              </a:buClr>
              <a:buSzPct val="100000"/>
              <a:buFont typeface="Times New Roman" panose="02020603050405020304"/>
              <a:buAutoNum type="arabicPeriod"/>
            </a:pPr>
            <a:r>
              <a:rPr lang="en-US" sz="973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AI &amp; Machine Learning Solutions.</a:t>
            </a:r>
            <a:endParaRPr sz="973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2905" algn="just" rtl="0">
              <a:lnSpc>
                <a:spcPct val="115000"/>
              </a:lnSpc>
              <a:spcBef>
                <a:spcPts val="0"/>
              </a:spcBef>
              <a:spcAft>
                <a:spcPts val="0"/>
              </a:spcAft>
              <a:buClr>
                <a:srgbClr val="000000"/>
              </a:buClr>
              <a:buSzPct val="100000"/>
              <a:buFont typeface="Times New Roman" panose="02020603050405020304"/>
              <a:buAutoNum type="arabicPeriod"/>
            </a:pPr>
            <a:r>
              <a:rPr lang="en-US" sz="973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Product Engineering &amp; Consulting.</a:t>
            </a:r>
            <a:endParaRPr sz="973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2905" algn="just" rtl="0">
              <a:lnSpc>
                <a:spcPct val="115000"/>
              </a:lnSpc>
              <a:spcBef>
                <a:spcPts val="0"/>
              </a:spcBef>
              <a:spcAft>
                <a:spcPts val="0"/>
              </a:spcAft>
              <a:buClr>
                <a:srgbClr val="000000"/>
              </a:buClr>
              <a:buSzPct val="100000"/>
              <a:buFont typeface="Times New Roman" panose="02020603050405020304"/>
              <a:buAutoNum type="arabicPeriod"/>
            </a:pPr>
            <a:r>
              <a:rPr lang="en-US" sz="973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Digital Transformation Services.</a:t>
            </a:r>
            <a:endParaRPr sz="973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85800" marR="0" lvl="1" indent="-87630" algn="just" rtl="0">
              <a:lnSpc>
                <a:spcPct val="100000"/>
              </a:lnSpc>
              <a:spcBef>
                <a:spcPts val="0"/>
              </a:spcBef>
              <a:spcAft>
                <a:spcPts val="0"/>
              </a:spcAft>
              <a:buClr>
                <a:srgbClr val="000000"/>
              </a:buClr>
              <a:buSzPct val="100000"/>
              <a:buFont typeface="Arial" panose="020B0604020202020204"/>
              <a:buNone/>
            </a:pPr>
            <a:endPara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28600" marR="0" lvl="0" indent="-64135" algn="just" rtl="0">
              <a:lnSpc>
                <a:spcPct val="100000"/>
              </a:lnSpc>
              <a:spcBef>
                <a:spcPts val="0"/>
              </a:spcBef>
              <a:spcAft>
                <a:spcPts val="0"/>
              </a:spcAft>
              <a:buClr>
                <a:srgbClr val="000000"/>
              </a:buClr>
              <a:buSzPct val="100000"/>
              <a:buFont typeface="Arial" panose="020B0604020202020204"/>
              <a:buNone/>
            </a:pPr>
            <a:endParaRPr sz="28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 name="Google Shape;104;p3"/>
          <p:cNvSpPr txBox="1"/>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FFFFFF"/>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686400" y="3237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panose="020F0502020204030204"/>
              <a:buNone/>
            </a:pPr>
            <a:r>
              <a:rPr lang="en-US" sz="325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Clients and Industries</a:t>
            </a:r>
            <a:endParaRPr sz="3250">
              <a:latin typeface="Times New Roman" panose="02020603050405020304"/>
              <a:ea typeface="Times New Roman" panose="02020603050405020304"/>
              <a:cs typeface="Times New Roman" panose="02020603050405020304"/>
              <a:sym typeface="Times New Roman" panose="02020603050405020304"/>
            </a:endParaRPr>
          </a:p>
        </p:txBody>
      </p:sp>
      <p:sp>
        <p:nvSpPr>
          <p:cNvPr id="110" name="Google Shape;110;p4"/>
          <p:cNvSpPr txBox="1">
            <a:spLocks noGrp="1"/>
          </p:cNvSpPr>
          <p:nvPr>
            <p:ph type="body" idx="1"/>
          </p:nvPr>
        </p:nvSpPr>
        <p:spPr>
          <a:xfrm>
            <a:off x="576025" y="1480675"/>
            <a:ext cx="10515600" cy="4351200"/>
          </a:xfrm>
          <a:prstGeom prst="rect">
            <a:avLst/>
          </a:prstGeom>
          <a:noFill/>
          <a:ln>
            <a:noFill/>
          </a:ln>
        </p:spPr>
        <p:txBody>
          <a:bodyPr spcFirstLastPara="1" wrap="square" lIns="91425" tIns="45700" rIns="91425" bIns="45700" anchor="t" anchorCtr="0">
            <a:normAutofit/>
          </a:bodyPr>
          <a:lstStyle/>
          <a:p>
            <a:pPr marL="457200" lvl="0" indent="-381000" algn="just" rtl="0">
              <a:lnSpc>
                <a:spcPct val="9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Nineleaps works with 100+ global clients, including startups, mid-size firms, and Fortune 500 companies  across sectors such as retail, finance, healthcare, mobility, logistics, and real estate. </a:t>
            </a:r>
            <a:endParaRPr sz="2400">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just" rtl="0">
              <a:lnSpc>
                <a:spcPct val="9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They build scalable applications, AI-enabled platforms, digital transformation roadmaps, and tailored software solutions that help businesses adapt to changing technology landscapes.</a:t>
            </a:r>
            <a:endParaRPr sz="2400">
              <a:latin typeface="Times New Roman" panose="02020603050405020304"/>
              <a:ea typeface="Times New Roman" panose="02020603050405020304"/>
              <a:cs typeface="Times New Roman" panose="02020603050405020304"/>
              <a:sym typeface="Times New Roman" panose="02020603050405020304"/>
            </a:endParaRPr>
          </a:p>
          <a:p>
            <a:pPr marL="228600" lvl="0" indent="-50800" algn="l" rtl="0">
              <a:lnSpc>
                <a:spcPct val="90000"/>
              </a:lnSpc>
              <a:spcBef>
                <a:spcPts val="1000"/>
              </a:spcBef>
              <a:spcAft>
                <a:spcPts val="0"/>
              </a:spcAft>
              <a:buClr>
                <a:schemeClr val="dk1"/>
              </a:buClr>
              <a:buSzPts val="2800"/>
              <a:buNone/>
            </a:pPr>
          </a:p>
        </p:txBody>
      </p:sp>
      <p:sp>
        <p:nvSpPr>
          <p:cNvPr id="111" name="Google Shape;111;p4"/>
          <p:cNvSpPr txBox="1">
            <a:spLocks noGrp="1"/>
          </p:cNvSpPr>
          <p:nvPr>
            <p:ph type="dt" idx="10"/>
          </p:nvPr>
        </p:nvSpPr>
        <p:spPr>
          <a:xfrm>
            <a:off x="838200" y="6356350"/>
            <a:ext cx="100965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31-01-2026</a:t>
            </a:r>
            <a:endParaRPr lang="en-US"/>
          </a:p>
        </p:txBody>
      </p:sp>
      <p:sp>
        <p:nvSpPr>
          <p:cNvPr id="112" name="Google Shape;11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5"/>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3250" b="1" dirty="0">
                <a:solidFill>
                  <a:srgbClr val="2F5496"/>
                </a:solidFill>
                <a:latin typeface="Times New Roman" panose="02020603050405020304"/>
                <a:ea typeface="Times New Roman" panose="02020603050405020304"/>
                <a:cs typeface="Times New Roman" panose="02020603050405020304"/>
                <a:sym typeface="Times New Roman" panose="02020603050405020304"/>
              </a:rPr>
              <a:t>Working domain</a:t>
            </a:r>
            <a:r>
              <a:rPr lang="en-US" sz="3200" b="1" dirty="0">
                <a:solidFill>
                  <a:srgbClr val="2F5496"/>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18" name="Google Shape;118;p5"/>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SzPts val="1800"/>
              <a:buNone/>
            </a:pPr>
            <a:r>
              <a:rPr lang="en-US" b="1" dirty="0">
                <a:latin typeface="Times New Roman" panose="02020603050405020304"/>
                <a:ea typeface="Times New Roman" panose="02020603050405020304"/>
                <a:cs typeface="Times New Roman" panose="02020603050405020304"/>
                <a:sym typeface="Times New Roman" panose="02020603050405020304"/>
              </a:rPr>
              <a:t>Assigned Domain:</a:t>
            </a:r>
            <a:r>
              <a:rPr lang="en-US" dirty="0">
                <a:latin typeface="Times New Roman" panose="02020603050405020304"/>
                <a:ea typeface="Times New Roman" panose="02020603050405020304"/>
                <a:cs typeface="Times New Roman" panose="02020603050405020304"/>
                <a:sym typeface="Times New Roman" panose="02020603050405020304"/>
              </a:rPr>
              <a:t> Data Analytics.</a:t>
            </a:r>
            <a:endParaRPr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l" rtl="0">
              <a:lnSpc>
                <a:spcPct val="100000"/>
              </a:lnSpc>
              <a:spcBef>
                <a:spcPts val="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Data Analytics involves collecting, cleaning, and analyzing data.</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l" rtl="0">
              <a:lnSpc>
                <a:spcPct val="100000"/>
              </a:lnSpc>
              <a:spcBef>
                <a:spcPts val="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It helps in identifying patterns and insights for decision-making.</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l" rtl="0">
              <a:lnSpc>
                <a:spcPct val="100000"/>
              </a:lnSpc>
              <a:spcBef>
                <a:spcPts val="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Used across industries to improve efficiency and business performance.</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228600" lvl="0" indent="-50800" algn="l" rtl="0">
              <a:lnSpc>
                <a:spcPct val="100000"/>
              </a:lnSpc>
              <a:spcBef>
                <a:spcPts val="0"/>
              </a:spcBef>
              <a:spcAft>
                <a:spcPts val="0"/>
              </a:spcAft>
              <a:buClr>
                <a:schemeClr val="dk1"/>
              </a:buClr>
              <a:buSzPts val="2800"/>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19" name="Google Shape;11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6"/>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3250" b="1" dirty="0">
                <a:solidFill>
                  <a:srgbClr val="2F5496"/>
                </a:solidFill>
                <a:latin typeface="Times New Roman" panose="02020603050405020304"/>
                <a:ea typeface="Times New Roman" panose="02020603050405020304"/>
                <a:cs typeface="Times New Roman" panose="02020603050405020304"/>
                <a:sym typeface="Times New Roman" panose="02020603050405020304"/>
              </a:rPr>
              <a:t>About  team and reporting Manager</a:t>
            </a:r>
            <a:endParaRPr sz="3250" dirty="0"/>
          </a:p>
        </p:txBody>
      </p:sp>
      <p:sp>
        <p:nvSpPr>
          <p:cNvPr id="125" name="Google Shape;125;p6"/>
          <p:cNvSpPr txBox="1">
            <a:spLocks noGrp="1"/>
          </p:cNvSpPr>
          <p:nvPr>
            <p:ph type="body" idx="1"/>
          </p:nvPr>
        </p:nvSpPr>
        <p:spPr>
          <a:xfrm>
            <a:off x="995855" y="1184366"/>
            <a:ext cx="10515600" cy="4058194"/>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000"/>
              </a:spcBef>
              <a:spcAft>
                <a:spcPts val="0"/>
              </a:spcAft>
              <a:buSzPts val="1800"/>
              <a:buNone/>
            </a:pPr>
            <a:r>
              <a:rPr lang="en-US" sz="2400" b="1" dirty="0">
                <a:latin typeface="Times New Roman" panose="02020603050405020304"/>
                <a:ea typeface="Times New Roman" panose="02020603050405020304"/>
                <a:cs typeface="Times New Roman" panose="02020603050405020304"/>
                <a:sym typeface="Times New Roman" panose="02020603050405020304"/>
              </a:rPr>
              <a:t>Team Coordination and Workflow</a:t>
            </a:r>
            <a:endParaRPr lang="en-US" sz="24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100000"/>
              </a:lnSpc>
              <a:spcBef>
                <a:spcPts val="100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Conduct a daily stand-up call every morning.</a:t>
            </a: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81000" algn="just" rtl="0">
              <a:lnSpc>
                <a:spcPct val="100000"/>
              </a:lnSpc>
              <a:spcBef>
                <a:spcPts val="0"/>
              </a:spcBef>
              <a:spcAft>
                <a:spcPts val="0"/>
              </a:spcAft>
              <a:buSzPts val="2400"/>
              <a:buFont typeface="Times New Roman" panose="02020603050405020304"/>
              <a:buChar char="•"/>
            </a:pPr>
            <a:r>
              <a:rPr lang="en-US" u="sng" dirty="0">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1"/>
              </a:rPr>
              <a:t>https://docs.google.com/spreadsheets/d/1_azwkN5nxKBeWa-GqM3sn02x9CgDlKdxXKAd8swtOH0/edit?usp=drivesdk</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100000"/>
              </a:lnSpc>
              <a:spcBef>
                <a:spcPts val="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Tasks for the day are discussed and assigned.</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100000"/>
              </a:lnSpc>
              <a:spcBef>
                <a:spcPts val="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Dependencies and blockers  are clarified.</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100000"/>
              </a:lnSpc>
              <a:spcBef>
                <a:spcPts val="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At the end of each day, progress updates are shared with the project manager.</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1000"/>
              </a:spcBef>
              <a:spcAft>
                <a:spcPts val="0"/>
              </a:spcAft>
              <a:buClr>
                <a:schemeClr val="dk1"/>
              </a:buClr>
              <a:buSzPts val="2800"/>
              <a:buNone/>
            </a:pPr>
            <a:endParaRPr sz="24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26" name="Google Shape;1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755400" y="365125"/>
            <a:ext cx="10515600" cy="819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Challenges Faced in Internship</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2" name="Google Shape;1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133" name="Google Shape;133;p7"/>
          <p:cNvSpPr txBox="1">
            <a:spLocks noGrp="1"/>
          </p:cNvSpPr>
          <p:nvPr>
            <p:ph type="body" idx="1"/>
          </p:nvPr>
        </p:nvSpPr>
        <p:spPr>
          <a:xfrm>
            <a:off x="852000" y="1184437"/>
            <a:ext cx="11022000" cy="4525200"/>
          </a:xfrm>
          <a:prstGeom prst="rect">
            <a:avLst/>
          </a:prstGeom>
          <a:noFill/>
          <a:ln>
            <a:noFill/>
          </a:ln>
        </p:spPr>
        <p:txBody>
          <a:bodyPr spcFirstLastPara="1" wrap="square" lIns="91425" tIns="45700" rIns="91425" bIns="45700" anchor="ctr" anchorCtr="0">
            <a:spAutoFit/>
          </a:bodyPr>
          <a:lstStyle/>
          <a:p>
            <a:pPr marL="457200" marR="0" lvl="0" indent="-381000" algn="l" rtl="0">
              <a:lnSpc>
                <a:spcPct val="100000"/>
              </a:lnSpc>
              <a:spcBef>
                <a:spcPts val="0"/>
              </a:spcBef>
              <a:spcAft>
                <a:spcPts val="0"/>
              </a:spcAft>
              <a:buClr>
                <a:schemeClr val="dk1"/>
              </a:buClr>
              <a:buSzPts val="2400"/>
              <a:buFont typeface="Times New Roman" panose="02020603050405020304"/>
              <a:buAutoNum type="arabicPeriod"/>
            </a:pPr>
            <a:r>
              <a:rPr lang="en-US" sz="24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Coordination with Team Members</a:t>
            </a:r>
            <a:br>
              <a:rPr lang="en-US" sz="240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40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Collaborating with teammates from different colleges required clear communication and alignment on tasks.</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57200" marR="0" lvl="0" indent="-381000" algn="l" rtl="0">
              <a:lnSpc>
                <a:spcPct val="100000"/>
              </a:lnSpc>
              <a:spcBef>
                <a:spcPts val="0"/>
              </a:spcBef>
              <a:spcAft>
                <a:spcPts val="0"/>
              </a:spcAft>
              <a:buClr>
                <a:schemeClr val="dk1"/>
              </a:buClr>
              <a:buSzPts val="2400"/>
              <a:buFont typeface="Times New Roman" panose="02020603050405020304"/>
              <a:buAutoNum type="arabicPeriod"/>
            </a:pPr>
            <a:r>
              <a:rPr lang="en-US" sz="24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Understanding Large and Complex Datasets</a:t>
            </a:r>
            <a:br>
              <a:rPr lang="en-US" sz="240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400" dirty="0">
                <a:latin typeface="Times New Roman" panose="02020603050405020304"/>
                <a:ea typeface="Times New Roman" panose="02020603050405020304"/>
                <a:cs typeface="Times New Roman" panose="02020603050405020304"/>
                <a:sym typeface="Times New Roman" panose="02020603050405020304"/>
              </a:rPr>
              <a:t>Raw</a:t>
            </a:r>
            <a:r>
              <a:rPr lang="en-US" sz="240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data was extensive, making it challenging to understand structure, dependencies, and relevance initially.</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57200" marR="0" lvl="0" indent="-381000" algn="l" rtl="0">
              <a:lnSpc>
                <a:spcPct val="100000"/>
              </a:lnSpc>
              <a:spcBef>
                <a:spcPts val="0"/>
              </a:spcBef>
              <a:spcAft>
                <a:spcPts val="0"/>
              </a:spcAft>
              <a:buClr>
                <a:schemeClr val="dk1"/>
              </a:buClr>
              <a:buSzPts val="2400"/>
              <a:buFont typeface="Times New Roman" panose="02020603050405020304"/>
              <a:buAutoNum type="arabicPeriod"/>
            </a:pPr>
            <a:r>
              <a:rPr lang="en-US" sz="24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Data Quality Issues</a:t>
            </a:r>
            <a:br>
              <a:rPr lang="en-US" sz="240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40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Handling missing values, inconsistent formats, and noisy data during the data validation phase required extra effort.</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57200" marR="0" lvl="0" indent="-381000" algn="l" rtl="0">
              <a:lnSpc>
                <a:spcPct val="100000"/>
              </a:lnSpc>
              <a:spcBef>
                <a:spcPts val="0"/>
              </a:spcBef>
              <a:spcAft>
                <a:spcPts val="0"/>
              </a:spcAft>
              <a:buClr>
                <a:schemeClr val="dk1"/>
              </a:buClr>
              <a:buSzPts val="2400"/>
              <a:buFont typeface="Times New Roman" panose="02020603050405020304"/>
              <a:buAutoNum type="arabicPeriod"/>
            </a:pPr>
            <a:r>
              <a:rPr lang="en-US" sz="24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Time Management</a:t>
            </a:r>
            <a:br>
              <a:rPr lang="en-US" sz="240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40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Balancing daily stand-up deliverables with academic responsibilities was challenging at times.</a:t>
            </a:r>
            <a:endParaRPr sz="24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3250" b="1" dirty="0">
                <a:solidFill>
                  <a:srgbClr val="2F5496"/>
                </a:solidFill>
                <a:latin typeface="Times New Roman" panose="02020603050405020304"/>
                <a:ea typeface="Times New Roman" panose="02020603050405020304"/>
                <a:cs typeface="Times New Roman" panose="02020603050405020304"/>
                <a:sym typeface="Times New Roman" panose="02020603050405020304"/>
              </a:rPr>
              <a:t>Objectives of the work</a:t>
            </a:r>
            <a:endParaRPr sz="3250" b="1" dirty="0"/>
          </a:p>
        </p:txBody>
      </p:sp>
      <p:sp>
        <p:nvSpPr>
          <p:cNvPr id="139" name="Google Shape;1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140" name="Google Shape;140;p8"/>
          <p:cNvSpPr txBox="1">
            <a:spLocks noGrp="1"/>
          </p:cNvSpPr>
          <p:nvPr>
            <p:ph type="body" idx="1"/>
          </p:nvPr>
        </p:nvSpPr>
        <p:spPr>
          <a:xfrm>
            <a:off x="838200" y="1093711"/>
            <a:ext cx="9874500" cy="1715301"/>
          </a:xfrm>
          <a:prstGeom prst="rect">
            <a:avLst/>
          </a:prstGeom>
          <a:noFill/>
          <a:ln>
            <a:noFill/>
          </a:ln>
        </p:spPr>
        <p:txBody>
          <a:bodyPr spcFirstLastPara="1" wrap="square" lIns="91425" tIns="45700" rIns="91425" bIns="45700" anchor="ctr" anchorCtr="0">
            <a:spAutoFit/>
          </a:bodyPr>
          <a:lstStyle/>
          <a:p>
            <a:pPr marL="571500" indent="-457200" algn="just">
              <a:buFont typeface="+mj-lt"/>
              <a:buAutoNum type="arabicPeriod"/>
            </a:pPr>
            <a:r>
              <a:rPr lang="en-US" sz="2400" dirty="0">
                <a:highlight>
                  <a:srgbClr val="FFFFFF"/>
                </a:highlight>
                <a:latin typeface="Times New Roman" panose="02020603050405020304" pitchFamily="18" charset="0"/>
                <a:cs typeface="Times New Roman" panose="02020603050405020304" pitchFamily="18" charset="0"/>
              </a:rPr>
              <a:t>Perform Extract, Transform, Load (ETL) operations on the Uber dataset. </a:t>
            </a:r>
            <a:endParaRPr lang="en-US" sz="2400" dirty="0">
              <a:highlight>
                <a:srgbClr val="FFFFFF"/>
              </a:highlight>
              <a:latin typeface="Times New Roman" panose="02020603050405020304" pitchFamily="18" charset="0"/>
              <a:cs typeface="Times New Roman" panose="02020603050405020304" pitchFamily="18" charset="0"/>
            </a:endParaRPr>
          </a:p>
          <a:p>
            <a:pPr marL="571500" indent="-457200" algn="just">
              <a:buFont typeface="+mj-lt"/>
              <a:buAutoNum type="arabicPeriod"/>
            </a:pPr>
            <a:r>
              <a:rPr lang="en-US" sz="2400" dirty="0">
                <a:highlight>
                  <a:srgbClr val="FFFFFF"/>
                </a:highlight>
                <a:latin typeface="Times New Roman" panose="02020603050405020304" pitchFamily="18" charset="0"/>
                <a:cs typeface="Times New Roman" panose="02020603050405020304" pitchFamily="18" charset="0"/>
              </a:rPr>
              <a:t>Conduct Exploratory Data Analysis (EDA) to identify patterns in the dataset.</a:t>
            </a:r>
            <a:endParaRPr lang="en-US" sz="2400" dirty="0">
              <a:highlight>
                <a:srgbClr val="FFFFFF"/>
              </a:highlight>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SzPts val="1800"/>
              <a:buNone/>
            </a:pPr>
            <a:endParaRPr sz="24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panose="02020603050405020304"/>
              <a:buNone/>
            </a:pPr>
            <a:r>
              <a:rPr lang="en-US" sz="3250" b="1">
                <a:solidFill>
                  <a:srgbClr val="2F5496"/>
                </a:solidFill>
                <a:latin typeface="Times New Roman" panose="02020603050405020304"/>
                <a:ea typeface="Times New Roman" panose="02020603050405020304"/>
                <a:cs typeface="Times New Roman" panose="02020603050405020304"/>
                <a:sym typeface="Times New Roman" panose="02020603050405020304"/>
              </a:rPr>
              <a:t>Proposed System </a:t>
            </a:r>
            <a:endParaRPr sz="3250"/>
          </a:p>
        </p:txBody>
      </p:sp>
      <p:sp>
        <p:nvSpPr>
          <p:cNvPr id="146" name="Google Shape;14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147" name="Google Shape;147;p10"/>
          <p:cNvSpPr txBox="1">
            <a:spLocks noGrp="1"/>
          </p:cNvSpPr>
          <p:nvPr>
            <p:ph type="body" idx="1"/>
          </p:nvPr>
        </p:nvSpPr>
        <p:spPr>
          <a:xfrm>
            <a:off x="927900" y="1184366"/>
            <a:ext cx="11264100" cy="2764819"/>
          </a:xfrm>
          <a:prstGeom prst="rect">
            <a:avLst/>
          </a:prstGeom>
          <a:noFill/>
          <a:ln>
            <a:noFill/>
          </a:ln>
        </p:spPr>
        <p:txBody>
          <a:bodyPr spcFirstLastPara="1" wrap="square" lIns="91425" tIns="45700" rIns="91425" bIns="45700" anchor="ctr" anchorCtr="0">
            <a:spAutoFit/>
          </a:bodyPr>
          <a:lstStyle/>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Extraction:</a:t>
            </a:r>
            <a:r>
              <a:rPr lang="en-IN" sz="2400" dirty="0">
                <a:latin typeface="Times New Roman" panose="02020603050405020304" pitchFamily="18" charset="0"/>
                <a:cs typeface="Times New Roman" panose="02020603050405020304" pitchFamily="18" charset="0"/>
              </a:rPr>
              <a:t> Load Uber dataset using Pandas.</a:t>
            </a:r>
            <a:endParaRPr lang="en-IN" sz="2400" dirty="0">
              <a:latin typeface="Times New Roman" panose="02020603050405020304" pitchFamily="18" charset="0"/>
              <a:cs typeface="Times New Roman" panose="02020603050405020304" pitchFamily="18" charset="0"/>
            </a:endParaRP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Transformation:</a:t>
            </a:r>
            <a:r>
              <a:rPr lang="en-IN" sz="2400" dirty="0">
                <a:latin typeface="Times New Roman" panose="02020603050405020304" pitchFamily="18" charset="0"/>
                <a:cs typeface="Times New Roman" panose="02020603050405020304" pitchFamily="18" charset="0"/>
              </a:rPr>
              <a:t> Clean data, fix formats, create time-based features.</a:t>
            </a:r>
            <a:endParaRPr lang="en-IN" sz="2400" dirty="0">
              <a:latin typeface="Times New Roman" panose="02020603050405020304" pitchFamily="18" charset="0"/>
              <a:cs typeface="Times New Roman" panose="02020603050405020304" pitchFamily="18" charset="0"/>
            </a:endParaRP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Loading:</a:t>
            </a:r>
            <a:r>
              <a:rPr lang="en-IN" sz="2400" dirty="0">
                <a:latin typeface="Times New Roman" panose="02020603050405020304" pitchFamily="18" charset="0"/>
                <a:cs typeface="Times New Roman" panose="02020603050405020304" pitchFamily="18" charset="0"/>
              </a:rPr>
              <a:t> Store processed data for easy access.</a:t>
            </a:r>
            <a:endParaRPr lang="en-IN" sz="2400" dirty="0">
              <a:latin typeface="Times New Roman" panose="02020603050405020304" pitchFamily="18" charset="0"/>
              <a:cs typeface="Times New Roman" panose="02020603050405020304" pitchFamily="18" charset="0"/>
            </a:endParaRP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EDA(Exploratory Data Analysis):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patterns using Matplotlib &amp; Seaborn.</a:t>
            </a:r>
            <a:endParaRPr lang="en-IN" sz="2400" dirty="0">
              <a:latin typeface="Times New Roman" panose="02020603050405020304" pitchFamily="18" charset="0"/>
              <a:cs typeface="Times New Roman" panose="02020603050405020304" pitchFamily="18" charset="0"/>
            </a:endParaRP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Insights:</a:t>
            </a:r>
            <a:r>
              <a:rPr lang="en-IN" sz="2400" dirty="0">
                <a:latin typeface="Times New Roman" panose="02020603050405020304" pitchFamily="18" charset="0"/>
                <a:cs typeface="Times New Roman" panose="02020603050405020304" pitchFamily="18" charset="0"/>
              </a:rPr>
              <a:t> Visualize trends like peak hours and pickup locations.</a:t>
            </a:r>
            <a:endParaRPr lang="en-IN" sz="2400" dirty="0">
              <a:latin typeface="Times New Roman" panose="02020603050405020304" pitchFamily="18" charset="0"/>
              <a:cs typeface="Times New Roman" panose="02020603050405020304" pitchFamily="18" charset="0"/>
            </a:endParaRPr>
          </a:p>
          <a:p>
            <a:pPr marL="457200" marR="0" lvl="0" indent="0" algn="l" rtl="0">
              <a:lnSpc>
                <a:spcPct val="100000"/>
              </a:lnSpc>
              <a:spcBef>
                <a:spcPts val="0"/>
              </a:spcBef>
              <a:spcAft>
                <a:spcPts val="0"/>
              </a:spcAft>
              <a:buSzPts val="1800"/>
              <a:buNone/>
            </a:pPr>
            <a:endParaRPr sz="2400" b="1"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1"/>
          <p:cNvSpPr txBox="1">
            <a:spLocks noGrp="1"/>
          </p:cNvSpPr>
          <p:nvPr>
            <p:ph type="title"/>
          </p:nvPr>
        </p:nvSpPr>
        <p:spPr>
          <a:xfrm>
            <a:off x="824401" y="365125"/>
            <a:ext cx="10515600" cy="8193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panose="02020603050405020304"/>
              <a:buNone/>
            </a:pPr>
            <a:r>
              <a:rPr lang="en-US" sz="3250" b="1">
                <a:solidFill>
                  <a:srgbClr val="2F5496"/>
                </a:solidFill>
                <a:latin typeface="Times New Roman" panose="02020603050405020304"/>
                <a:ea typeface="Times New Roman" panose="02020603050405020304"/>
                <a:cs typeface="Times New Roman" panose="02020603050405020304"/>
                <a:sym typeface="Times New Roman" panose="02020603050405020304"/>
              </a:rPr>
              <a:t>Problem Statement</a:t>
            </a:r>
            <a:endParaRPr sz="3250"/>
          </a:p>
        </p:txBody>
      </p:sp>
      <p:sp>
        <p:nvSpPr>
          <p:cNvPr id="153" name="Google Shape;153;p11"/>
          <p:cNvSpPr txBox="1">
            <a:spLocks noGrp="1"/>
          </p:cNvSpPr>
          <p:nvPr>
            <p:ph type="body" idx="1"/>
          </p:nvPr>
        </p:nvSpPr>
        <p:spPr>
          <a:xfrm>
            <a:off x="838200" y="1184367"/>
            <a:ext cx="10515600" cy="4058194"/>
          </a:xfrm>
          <a:prstGeom prst="rect">
            <a:avLst/>
          </a:prstGeom>
          <a:noFill/>
          <a:ln>
            <a:noFill/>
          </a:ln>
        </p:spPr>
        <p:txBody>
          <a:bodyPr spcFirstLastPara="1" wrap="square" lIns="0" tIns="45700" rIns="91425" bIns="45700" anchor="t" anchorCtr="0">
            <a:normAutofit/>
          </a:bodyPr>
          <a:lstStyle/>
          <a:p>
            <a:pPr marL="76200" lvl="0" indent="0" algn="just">
              <a:lnSpc>
                <a:spcPct val="100000"/>
              </a:lnSpc>
              <a:spcBef>
                <a:spcPts val="0"/>
              </a:spcBef>
              <a:buSzPts val="2400"/>
              <a:buNone/>
            </a:pPr>
            <a:r>
              <a:rPr lang="en-US" sz="2400" dirty="0"/>
              <a:t>Uber generates massive volumes of trip data, but the raw dataset is often unstructured, contains missing values, and lacks directly usable insights.</a:t>
            </a:r>
            <a:br>
              <a:rPr lang="en-US" sz="2400" dirty="0"/>
            </a:br>
            <a:r>
              <a:rPr lang="en-US" sz="2400" dirty="0"/>
              <a:t>Without proper processing, it is difficult to identify important patterns such as peak ride hours, daily trends, and geographic demand distribution.</a:t>
            </a:r>
            <a:br>
              <a:rPr lang="en-US" sz="2400" dirty="0"/>
            </a:br>
            <a:r>
              <a:rPr lang="en-US" sz="2400" dirty="0"/>
              <a:t>This creates a need for an efficient ETL pipeline using tools like Pandas to clean and structure the data. Additionally, applying EDA with visualization libraries such as Matplotlib and Seaborn helps uncover hidden trends. The goal is to transform raw Uber data into meaningful insights that support data-driven decision making.</a:t>
            </a:r>
            <a:endParaRPr sz="24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54" name="Google Shape;15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panose="02020603050405020304"/>
              <a:buNone/>
            </a:pPr>
            <a:r>
              <a:rPr lang="en-US" sz="3250" b="1">
                <a:solidFill>
                  <a:srgbClr val="2F5496"/>
                </a:solidFill>
                <a:latin typeface="Times New Roman" panose="02020603050405020304"/>
                <a:ea typeface="Times New Roman" panose="02020603050405020304"/>
                <a:cs typeface="Times New Roman" panose="02020603050405020304"/>
                <a:sym typeface="Times New Roman" panose="02020603050405020304"/>
              </a:rPr>
              <a:t>System Requirements</a:t>
            </a:r>
            <a:endParaRPr sz="3250"/>
          </a:p>
        </p:txBody>
      </p:sp>
      <p:sp>
        <p:nvSpPr>
          <p:cNvPr id="160" name="Google Shape;160;p12"/>
          <p:cNvSpPr txBox="1">
            <a:spLocks noGrp="1"/>
          </p:cNvSpPr>
          <p:nvPr>
            <p:ph type="body" idx="1"/>
          </p:nvPr>
        </p:nvSpPr>
        <p:spPr>
          <a:xfrm>
            <a:off x="838200" y="1184367"/>
            <a:ext cx="10515600" cy="4058194"/>
          </a:xfrm>
          <a:prstGeom prst="rect">
            <a:avLst/>
          </a:prstGeom>
          <a:noFill/>
          <a:ln>
            <a:noFill/>
          </a:ln>
        </p:spPr>
        <p:txBody>
          <a:bodyPr spcFirstLastPara="1" wrap="square" lIns="114300" tIns="45700" rIns="91425" bIns="45700" anchor="t" anchorCtr="0">
            <a:normAutofit/>
          </a:bodyPr>
          <a:lstStyle/>
          <a:p>
            <a:pPr marL="457200" lvl="0" indent="-381000" algn="just" rtl="0">
              <a:lnSpc>
                <a:spcPct val="150000"/>
              </a:lnSpc>
              <a:spcBef>
                <a:spcPts val="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VS Code.</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just" rtl="0">
              <a:lnSpc>
                <a:spcPct val="150000"/>
              </a:lnSpc>
              <a:spcBef>
                <a:spcPts val="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Command Prompt/Terminal.</a:t>
            </a: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just" rtl="0">
              <a:lnSpc>
                <a:spcPct val="150000"/>
              </a:lnSpc>
              <a:spcBef>
                <a:spcPts val="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Jupyter Notebook</a:t>
            </a: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just" rtl="0">
              <a:lnSpc>
                <a:spcPct val="150000"/>
              </a:lnSpc>
              <a:spcBef>
                <a:spcPts val="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Google Collab</a:t>
            </a: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just" rtl="0">
              <a:lnSpc>
                <a:spcPct val="150000"/>
              </a:lnSpc>
              <a:spcBef>
                <a:spcPts val="0"/>
              </a:spcBef>
              <a:spcAft>
                <a:spcPts val="0"/>
              </a:spcAft>
              <a:buSzPts val="2400"/>
              <a:buFont typeface="Times New Roman" panose="02020603050405020304"/>
              <a:buAutoNum type="arabicPeriod"/>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just" rtl="0">
              <a:lnSpc>
                <a:spcPct val="70000"/>
              </a:lnSpc>
              <a:spcBef>
                <a:spcPts val="0"/>
              </a:spcBef>
              <a:spcAft>
                <a:spcPts val="0"/>
              </a:spcAft>
              <a:buSzPts val="2400"/>
              <a:buFont typeface="Times New Roman" panose="02020603050405020304"/>
              <a:buAutoNum type="arabicPeriod"/>
            </a:pP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SzPts val="1800"/>
              <a:buNone/>
            </a:pPr>
            <a:endParaRPr sz="2000" b="1" dirty="0">
              <a:latin typeface="Arial" panose="020B0604020202020204"/>
              <a:ea typeface="Arial" panose="020B0604020202020204"/>
              <a:cs typeface="Arial" panose="020B0604020202020204"/>
              <a:sym typeface="Arial" panose="020B0604020202020204"/>
            </a:endParaRPr>
          </a:p>
          <a:p>
            <a:pPr marL="457200" lvl="0" indent="0" algn="l" rtl="0">
              <a:lnSpc>
                <a:spcPct val="70000"/>
              </a:lnSpc>
              <a:spcBef>
                <a:spcPts val="0"/>
              </a:spcBef>
              <a:spcAft>
                <a:spcPts val="0"/>
              </a:spcAft>
              <a:buSzPts val="1800"/>
              <a:buNone/>
            </a:pPr>
            <a:endParaRPr sz="5100" b="1" dirty="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90000"/>
              </a:lnSpc>
              <a:spcBef>
                <a:spcPts val="0"/>
              </a:spcBef>
              <a:spcAft>
                <a:spcPts val="0"/>
              </a:spcAft>
              <a:buSzPts val="1800"/>
              <a:buNone/>
            </a:pPr>
            <a:endParaRPr sz="3800" dirty="0">
              <a:latin typeface="Times New Roman" panose="02020603050405020304"/>
              <a:ea typeface="Times New Roman" panose="02020603050405020304"/>
              <a:cs typeface="Times New Roman" panose="02020603050405020304"/>
              <a:sym typeface="Times New Roman" panose="02020603050405020304"/>
            </a:endParaRPr>
          </a:p>
          <a:p>
            <a:pPr marL="571500" lvl="0" indent="0" algn="l" rtl="0">
              <a:lnSpc>
                <a:spcPct val="90000"/>
              </a:lnSpc>
              <a:spcBef>
                <a:spcPts val="1000"/>
              </a:spcBef>
              <a:spcAft>
                <a:spcPts val="0"/>
              </a:spcAft>
              <a:buSzPts val="2880"/>
              <a:buNone/>
            </a:pPr>
            <a:endParaRPr sz="435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2800"/>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61" name="Google Shape;16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3"/>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panose="02020603050405020304"/>
              <a:buNone/>
            </a:pPr>
            <a:r>
              <a:rPr lang="en-US" sz="3250" b="1">
                <a:solidFill>
                  <a:srgbClr val="2F5496"/>
                </a:solidFill>
                <a:latin typeface="Times New Roman" panose="02020603050405020304"/>
                <a:ea typeface="Times New Roman" panose="02020603050405020304"/>
                <a:cs typeface="Times New Roman" panose="02020603050405020304"/>
                <a:sym typeface="Times New Roman" panose="02020603050405020304"/>
              </a:rPr>
              <a:t>Advantages of Proposed System</a:t>
            </a:r>
            <a:endParaRPr sz="3250"/>
          </a:p>
        </p:txBody>
      </p:sp>
      <p:sp>
        <p:nvSpPr>
          <p:cNvPr id="167" name="Google Shape;167;p13"/>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Improved Data Quality:</a:t>
            </a:r>
            <a:r>
              <a:rPr lang="en-US" altLang="en-US" sz="2400" dirty="0">
                <a:solidFill>
                  <a:schemeClr val="tx1"/>
                </a:solidFill>
                <a:latin typeface="Times New Roman" panose="02020603050405020304" pitchFamily="18" charset="0"/>
                <a:cs typeface="Times New Roman" panose="02020603050405020304" pitchFamily="18" charset="0"/>
              </a:rPr>
              <a:t> Cleans missing, duplicate, and inconsistent data for accurate analysis.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Better Insights:</a:t>
            </a:r>
            <a:r>
              <a:rPr lang="en-US" altLang="en-US" sz="2400" dirty="0">
                <a:solidFill>
                  <a:schemeClr val="tx1"/>
                </a:solidFill>
                <a:latin typeface="Times New Roman" panose="02020603050405020304" pitchFamily="18" charset="0"/>
                <a:cs typeface="Times New Roman" panose="02020603050405020304" pitchFamily="18" charset="0"/>
              </a:rPr>
              <a:t> Identifies peak hours, demand trends, and ride patterns clearly.</a:t>
            </a:r>
            <a:endParaRPr lang="en-US" altLang="en-US" sz="2400" dirty="0">
              <a:solidFill>
                <a:schemeClr val="tx1"/>
              </a:solidFill>
              <a:latin typeface="Times New Roman" panose="02020603050405020304" pitchFamily="18" charset="0"/>
              <a:cs typeface="Times New Roman" panose="02020603050405020304" pitchFamily="18" charset="0"/>
            </a:endParaRPr>
          </a:p>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Efficient Processing:</a:t>
            </a:r>
            <a:r>
              <a:rPr lang="en-US" altLang="en-US" sz="2400" dirty="0">
                <a:solidFill>
                  <a:schemeClr val="tx1"/>
                </a:solidFill>
                <a:latin typeface="Times New Roman" panose="02020603050405020304" pitchFamily="18" charset="0"/>
                <a:cs typeface="Times New Roman" panose="02020603050405020304" pitchFamily="18" charset="0"/>
              </a:rPr>
              <a:t> Structured ETL pipeline using Pandas enables faster data handling.</a:t>
            </a:r>
            <a:endParaRPr lang="en-US" altLang="en-US" sz="2400" dirty="0">
              <a:solidFill>
                <a:schemeClr val="tx1"/>
              </a:solidFill>
              <a:latin typeface="Times New Roman" panose="02020603050405020304" pitchFamily="18" charset="0"/>
              <a:cs typeface="Times New Roman" panose="02020603050405020304" pitchFamily="18" charset="0"/>
            </a:endParaRPr>
          </a:p>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Clear Visualization:</a:t>
            </a:r>
            <a:r>
              <a:rPr lang="en-US" altLang="en-US" sz="2400" dirty="0">
                <a:solidFill>
                  <a:schemeClr val="tx1"/>
                </a:solidFill>
                <a:latin typeface="Times New Roman" panose="02020603050405020304" pitchFamily="18" charset="0"/>
                <a:cs typeface="Times New Roman" panose="02020603050405020304" pitchFamily="18" charset="0"/>
              </a:rPr>
              <a:t> Graphs using Matplotlib and Seaborn make insights easy to understand. </a:t>
            </a:r>
            <a:endParaRPr lang="en-US" altLang="en-US" sz="2400" dirty="0">
              <a:solidFill>
                <a:schemeClr val="tx1"/>
              </a:solidFill>
              <a:latin typeface="Times New Roman" panose="02020603050405020304" pitchFamily="18" charset="0"/>
              <a:cs typeface="Times New Roman" panose="02020603050405020304" pitchFamily="18" charset="0"/>
            </a:endParaRPr>
          </a:p>
          <a:p>
            <a:pPr marL="228600" lvl="0" indent="-64135" algn="l" rtl="0">
              <a:lnSpc>
                <a:spcPct val="90000"/>
              </a:lnSpc>
              <a:spcBef>
                <a:spcPts val="1000"/>
              </a:spcBef>
              <a:spcAft>
                <a:spcPts val="0"/>
              </a:spcAft>
              <a:buClr>
                <a:schemeClr val="dk1"/>
              </a:buClr>
              <a:buSzPts val="2800"/>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68" name="Google Shape;16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5"/>
          <p:cNvSpPr txBox="1"/>
          <p:nvPr/>
        </p:nvSpPr>
        <p:spPr>
          <a:xfrm>
            <a:off x="1061431" y="371240"/>
            <a:ext cx="10515600" cy="596400"/>
          </a:xfrm>
          <a:prstGeom prst="rect">
            <a:avLst/>
          </a:prstGeom>
          <a:noFill/>
          <a:ln>
            <a:noFill/>
          </a:ln>
        </p:spPr>
        <p:txBody>
          <a:bodyPr spcFirstLastPara="1" wrap="square" lIns="91425" tIns="45700" rIns="91425" bIns="45700" anchor="ctr" anchorCtr="0">
            <a:normAutofit/>
          </a:bodyPr>
          <a:lstStyle/>
          <a:p>
            <a:pPr marL="0" marR="0" lvl="0" indent="0" rtl="0">
              <a:spcBef>
                <a:spcPts val="0"/>
              </a:spcBef>
              <a:spcAft>
                <a:spcPts val="0"/>
              </a:spcAft>
              <a:buClr>
                <a:srgbClr val="000000"/>
              </a:buClr>
              <a:buSzPts val="3250"/>
              <a:buFont typeface="Arial" panose="020B0604020202020204"/>
              <a:buNone/>
            </a:pPr>
            <a:r>
              <a:rPr lang="en-US" sz="3250" b="1" i="0" u="none" strike="noStrike" cap="none">
                <a:solidFill>
                  <a:srgbClr val="2F5496"/>
                </a:solidFill>
                <a:latin typeface="Times New Roman" panose="02020603050405020304"/>
                <a:ea typeface="Times New Roman" panose="02020603050405020304"/>
                <a:cs typeface="Times New Roman" panose="02020603050405020304"/>
                <a:sym typeface="Times New Roman" panose="02020603050405020304"/>
              </a:rPr>
              <a:t>Review Timeline:</a:t>
            </a:r>
            <a:endParaRPr sz="3250" b="0" i="0" u="none" strike="noStrike" cap="none">
              <a:solidFill>
                <a:srgbClr val="2F5496"/>
              </a:solidFill>
              <a:latin typeface="Calibri" panose="020F0502020204030204"/>
              <a:ea typeface="Calibri" panose="020F0502020204030204"/>
              <a:cs typeface="Calibri" panose="020F0502020204030204"/>
              <a:sym typeface="Calibri" panose="020F0502020204030204"/>
            </a:endParaRPr>
          </a:p>
        </p:txBody>
      </p:sp>
      <p:sp>
        <p:nvSpPr>
          <p:cNvPr id="174" name="Google Shape;174;p15"/>
          <p:cNvSpPr txBox="1"/>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FFFFFF"/>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pSp>
        <p:nvGrpSpPr>
          <p:cNvPr id="175" name="Google Shape;175;p15"/>
          <p:cNvGrpSpPr/>
          <p:nvPr/>
        </p:nvGrpSpPr>
        <p:grpSpPr>
          <a:xfrm>
            <a:off x="1193055" y="1210500"/>
            <a:ext cx="9237706" cy="4573643"/>
            <a:chOff x="2063594" y="0"/>
            <a:chExt cx="6388455" cy="4058246"/>
          </a:xfrm>
        </p:grpSpPr>
        <p:sp>
          <p:nvSpPr>
            <p:cNvPr id="176" name="Google Shape;176;p15"/>
            <p:cNvSpPr/>
            <p:nvPr/>
          </p:nvSpPr>
          <p:spPr>
            <a:xfrm>
              <a:off x="7173684" y="811638"/>
              <a:ext cx="1278300" cy="3246600"/>
            </a:xfrm>
            <a:prstGeom prst="wedgeRectCallout">
              <a:avLst>
                <a:gd name="adj1" fmla="val 0"/>
                <a:gd name="adj2" fmla="val 0"/>
              </a:avLst>
            </a:prstGeom>
            <a:solidFill>
              <a:srgbClr val="BFC8E3"/>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 name="Google Shape;177;p15"/>
            <p:cNvSpPr txBox="1"/>
            <p:nvPr/>
          </p:nvSpPr>
          <p:spPr>
            <a:xfrm>
              <a:off x="7336049" y="811646"/>
              <a:ext cx="1116000" cy="3246600"/>
            </a:xfrm>
            <a:prstGeom prst="rect">
              <a:avLst/>
            </a:prstGeom>
            <a:noFill/>
            <a:ln>
              <a:noFill/>
            </a:ln>
          </p:spPr>
          <p:txBody>
            <a:bodyPr spcFirstLastPara="1" wrap="square" lIns="44450" tIns="44450" rIns="44450" bIns="44450" anchor="t" anchorCtr="0">
              <a:noAutofit/>
            </a:bodyPr>
            <a:lstStyle/>
            <a:p>
              <a:pPr marL="0" marR="0" lvl="0" indent="0" algn="ctr" rtl="0">
                <a:spcBef>
                  <a:spcPts val="0"/>
                </a:spcBef>
                <a:spcAft>
                  <a:spcPts val="0"/>
                </a:spcAft>
                <a:buClr>
                  <a:srgbClr val="000000"/>
                </a:buClr>
                <a:buSzPts val="1400"/>
                <a:buFont typeface="Calibri" panose="020F0502020204030204"/>
                <a:buNone/>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Submission of report and final</a:t>
              </a: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490"/>
                </a:spcBef>
                <a:spcAft>
                  <a:spcPts val="0"/>
                </a:spcAft>
                <a:buClr>
                  <a:srgbClr val="000000"/>
                </a:buClr>
                <a:buSzPts val="1400"/>
                <a:buFont typeface="Calibri" panose="020F0502020204030204"/>
                <a:buNone/>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Presentation</a:t>
              </a: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490"/>
                </a:spcBef>
                <a:spcAft>
                  <a:spcPts val="0"/>
                </a:spcAft>
                <a:buClr>
                  <a:srgbClr val="000000"/>
                </a:buClr>
                <a:buSzPts val="1400"/>
                <a:buFont typeface="Calibri" panose="020F0502020204030204"/>
                <a:buNone/>
              </a:pP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490"/>
                </a:spcBef>
                <a:spcAft>
                  <a:spcPts val="0"/>
                </a:spcAft>
                <a:buClr>
                  <a:srgbClr val="000000"/>
                </a:buClr>
                <a:buSzPts val="1400"/>
                <a:buFont typeface="Calibri" panose="020F0502020204030204"/>
                <a:buNone/>
              </a:pP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490"/>
                </a:spcBef>
                <a:spcAft>
                  <a:spcPts val="0"/>
                </a:spcAft>
                <a:buClr>
                  <a:srgbClr val="000000"/>
                </a:buClr>
                <a:buSzPts val="1400"/>
                <a:buFont typeface="Calibri" panose="020F0502020204030204"/>
                <a:buNone/>
              </a:pP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490"/>
                </a:spcBef>
                <a:spcAft>
                  <a:spcPts val="0"/>
                </a:spcAft>
                <a:buClr>
                  <a:srgbClr val="000000"/>
                </a:buClr>
                <a:buSzPts val="1400"/>
                <a:buFont typeface="Calibri" panose="020F0502020204030204"/>
                <a:buNone/>
              </a:pP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490"/>
                </a:spcBef>
                <a:spcAft>
                  <a:spcPts val="0"/>
                </a:spcAft>
                <a:buClr>
                  <a:srgbClr val="000000"/>
                </a:buClr>
                <a:buSzPts val="1400"/>
                <a:buFont typeface="Calibri" panose="020F0502020204030204"/>
                <a:buNone/>
              </a:pP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490"/>
                </a:spcBef>
                <a:spcAft>
                  <a:spcPts val="0"/>
                </a:spcAft>
                <a:buClr>
                  <a:srgbClr val="000000"/>
                </a:buClr>
                <a:buSzPts val="1400"/>
                <a:buFont typeface="Calibri" panose="020F0502020204030204"/>
                <a:buNone/>
              </a:pPr>
              <a:endParaRPr sz="1600" b="1"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490"/>
                </a:spcBef>
                <a:spcAft>
                  <a:spcPts val="0"/>
                </a:spcAft>
                <a:buClr>
                  <a:srgbClr val="000000"/>
                </a:buClr>
                <a:buSzPts val="1400"/>
                <a:buFont typeface="Calibri" panose="020F0502020204030204"/>
                <a:buNone/>
              </a:pPr>
              <a:r>
                <a:rPr lang="en-US"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22/04/26</a:t>
              </a: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490"/>
                </a:spcBef>
                <a:spcAft>
                  <a:spcPts val="0"/>
                </a:spcAft>
                <a:buClr>
                  <a:srgbClr val="000000"/>
                </a:buClr>
                <a:buSzPts val="1400"/>
                <a:buFont typeface="Calibri" panose="020F0502020204030204"/>
                <a:buNone/>
              </a:pPr>
              <a:endParaRPr sz="14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8" name="Google Shape;178;p15"/>
            <p:cNvSpPr/>
            <p:nvPr/>
          </p:nvSpPr>
          <p:spPr>
            <a:xfrm>
              <a:off x="7173684" y="0"/>
              <a:ext cx="1278300" cy="811500"/>
            </a:xfrm>
            <a:prstGeom prst="rect">
              <a:avLst/>
            </a:prstGeom>
            <a:solidFill>
              <a:srgbClr val="ED7D3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 name="Google Shape;179;p15"/>
            <p:cNvSpPr txBox="1"/>
            <p:nvPr/>
          </p:nvSpPr>
          <p:spPr>
            <a:xfrm>
              <a:off x="7173684" y="0"/>
              <a:ext cx="1278300" cy="8115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panose="02020603050405020304"/>
                <a:buNone/>
              </a:pPr>
              <a:r>
                <a:rPr lang="en-US" sz="20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Final Review</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 name="Google Shape;180;p15"/>
            <p:cNvSpPr/>
            <p:nvPr/>
          </p:nvSpPr>
          <p:spPr>
            <a:xfrm>
              <a:off x="5898557" y="811638"/>
              <a:ext cx="1278300" cy="3043500"/>
            </a:xfrm>
            <a:prstGeom prst="wedgeRectCallout">
              <a:avLst>
                <a:gd name="adj1" fmla="val 62500"/>
                <a:gd name="adj2" fmla="val 20830"/>
              </a:avLst>
            </a:prstGeom>
            <a:solidFill>
              <a:srgbClr val="C6EAE6"/>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 name="Google Shape;181;p15"/>
            <p:cNvSpPr txBox="1"/>
            <p:nvPr/>
          </p:nvSpPr>
          <p:spPr>
            <a:xfrm>
              <a:off x="5978086" y="811638"/>
              <a:ext cx="1116000" cy="3043500"/>
            </a:xfrm>
            <a:prstGeom prst="rect">
              <a:avLst/>
            </a:prstGeom>
            <a:noFill/>
            <a:ln>
              <a:noFill/>
            </a:ln>
          </p:spPr>
          <p:txBody>
            <a:bodyPr spcFirstLastPara="1" wrap="square" lIns="50800" tIns="50800" rIns="50800" bIns="50800" anchor="t" anchorCtr="0">
              <a:noAutofit/>
            </a:bodyPr>
            <a:lstStyle/>
            <a:p>
              <a:pPr marL="0" lvl="0" indent="0" algn="ctr" rtl="0">
                <a:spcBef>
                  <a:spcPts val="0"/>
                </a:spcBef>
                <a:spcAft>
                  <a:spcPts val="0"/>
                </a:spcAft>
                <a:buClr>
                  <a:schemeClr val="dk1"/>
                </a:buClr>
                <a:buSzPts val="1600"/>
                <a:buFont typeface="Times New Roman" panose="02020603050405020304"/>
                <a:buNone/>
              </a:pPr>
              <a:r>
                <a:rPr 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Briefing the problem statement and workflow timeline.</a:t>
              </a:r>
              <a:endParaRP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0"/>
                </a:spcBef>
                <a:spcAft>
                  <a:spcPts val="0"/>
                </a:spcAft>
                <a:buClr>
                  <a:schemeClr val="dk1"/>
                </a:buClr>
                <a:buSzPts val="1600"/>
                <a:buFont typeface="Times New Roman" panose="02020603050405020304"/>
                <a:buNone/>
              </a:pPr>
              <a:endParaRP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endParaRPr sz="1600" b="1"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endParaRPr sz="1600" b="1"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endParaRPr sz="1600" b="1"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r>
                <a:rPr lang="en-US"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0</a:t>
              </a:r>
              <a:r>
                <a:rPr lang="en-US" sz="1600" b="1" dirty="0">
                  <a:latin typeface="Times New Roman" panose="02020603050405020304"/>
                  <a:ea typeface="Times New Roman" panose="02020603050405020304"/>
                  <a:cs typeface="Times New Roman" panose="02020603050405020304"/>
                  <a:sym typeface="Times New Roman" panose="02020603050405020304"/>
                </a:rPr>
                <a:t>7</a:t>
              </a:r>
              <a:r>
                <a:rPr lang="en-US"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/04/26</a:t>
              </a:r>
              <a:endParaRPr sz="14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82" name="Google Shape;182;p15"/>
            <p:cNvSpPr/>
            <p:nvPr/>
          </p:nvSpPr>
          <p:spPr>
            <a:xfrm>
              <a:off x="5898557" y="101454"/>
              <a:ext cx="1278300" cy="710100"/>
            </a:xfrm>
            <a:prstGeom prst="rect">
              <a:avLst/>
            </a:prstGeom>
            <a:solidFill>
              <a:srgbClr val="A5A5A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 name="Google Shape;183;p15"/>
            <p:cNvSpPr txBox="1"/>
            <p:nvPr/>
          </p:nvSpPr>
          <p:spPr>
            <a:xfrm>
              <a:off x="5898557" y="101454"/>
              <a:ext cx="1278300" cy="7101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panose="02020603050405020304"/>
                <a:buNone/>
              </a:pPr>
              <a:r>
                <a:rPr lang="en-US" sz="20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Review 4</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 name="Google Shape;184;p15"/>
            <p:cNvSpPr/>
            <p:nvPr/>
          </p:nvSpPr>
          <p:spPr>
            <a:xfrm>
              <a:off x="4620236" y="811638"/>
              <a:ext cx="1278300" cy="2840700"/>
            </a:xfrm>
            <a:prstGeom prst="wedgeRectCallout">
              <a:avLst>
                <a:gd name="adj1" fmla="val 62500"/>
                <a:gd name="adj2" fmla="val 20830"/>
              </a:avLst>
            </a:prstGeom>
            <a:solidFill>
              <a:srgbClr val="CFF1CF"/>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 name="Google Shape;185;p15"/>
            <p:cNvSpPr txBox="1"/>
            <p:nvPr/>
          </p:nvSpPr>
          <p:spPr>
            <a:xfrm>
              <a:off x="4701364" y="811638"/>
              <a:ext cx="1116000" cy="2840700"/>
            </a:xfrm>
            <a:prstGeom prst="rect">
              <a:avLst/>
            </a:prstGeom>
            <a:noFill/>
            <a:ln>
              <a:noFill/>
            </a:ln>
          </p:spPr>
          <p:txBody>
            <a:bodyPr spcFirstLastPara="1" wrap="square" lIns="50800" tIns="50800" rIns="50800" bIns="50800" anchor="t" anchorCtr="0">
              <a:noAutofit/>
            </a:bodyPr>
            <a:lstStyle/>
            <a:p>
              <a:pPr marL="0" lvl="0" indent="0" algn="ctr" rtl="0">
                <a:spcBef>
                  <a:spcPts val="0"/>
                </a:spcBef>
                <a:spcAft>
                  <a:spcPts val="0"/>
                </a:spcAft>
                <a:buClr>
                  <a:schemeClr val="dk1"/>
                </a:buClr>
                <a:buSzPts val="1600"/>
                <a:buFont typeface="Times New Roman" panose="02020603050405020304"/>
                <a:buNone/>
              </a:pPr>
              <a:r>
                <a:rPr 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Briefing the problem statement and workflow timeline.</a:t>
              </a:r>
              <a:endParaRP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600"/>
                <a:buFont typeface="Times New Roman" panose="02020603050405020304"/>
                <a:buNone/>
              </a:pPr>
              <a:endParaRP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600"/>
                <a:buFont typeface="Times New Roman" panose="02020603050405020304"/>
                <a:buNone/>
              </a:pPr>
              <a:endParaRP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600"/>
                <a:buFont typeface="Times New Roman" panose="02020603050405020304"/>
                <a:buNone/>
              </a:pPr>
              <a:endParaRP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560"/>
                </a:spcBef>
                <a:spcAft>
                  <a:spcPts val="0"/>
                </a:spcAft>
                <a:buClr>
                  <a:schemeClr val="dk1"/>
                </a:buClr>
                <a:buSzPts val="1600"/>
                <a:buFont typeface="Times New Roman" panose="02020603050405020304"/>
                <a:buNone/>
              </a:pPr>
              <a:endParaRPr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560"/>
                </a:spcBef>
                <a:spcAft>
                  <a:spcPts val="0"/>
                </a:spcAft>
                <a:buClr>
                  <a:schemeClr val="dk1"/>
                </a:buClr>
                <a:buSzPts val="1600"/>
                <a:buFont typeface="Times New Roman" panose="02020603050405020304"/>
                <a:buNone/>
              </a:pPr>
              <a:endParaRPr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560"/>
                </a:spcBef>
                <a:spcAft>
                  <a:spcPts val="0"/>
                </a:spcAft>
                <a:buClr>
                  <a:schemeClr val="dk1"/>
                </a:buClr>
                <a:buSzPts val="1600"/>
                <a:buFont typeface="Times New Roman" panose="02020603050405020304"/>
                <a:buNone/>
              </a:pPr>
              <a:r>
                <a:rPr lang="en-US"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04/03/26</a:t>
              </a:r>
              <a:endParaRP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0"/>
                </a:spcBef>
                <a:spcAft>
                  <a:spcPts val="0"/>
                </a:spcAft>
                <a:buClr>
                  <a:schemeClr val="dk1"/>
                </a:buClr>
                <a:buSzPts val="1600"/>
                <a:buFont typeface="Times New Roman" panose="02020603050405020304"/>
                <a:buNone/>
              </a:pPr>
              <a:endParaRP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6" name="Google Shape;186;p15"/>
            <p:cNvSpPr/>
            <p:nvPr/>
          </p:nvSpPr>
          <p:spPr>
            <a:xfrm>
              <a:off x="4620236" y="206156"/>
              <a:ext cx="1278300" cy="6087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7" name="Google Shape;187;p15"/>
            <p:cNvSpPr txBox="1"/>
            <p:nvPr/>
          </p:nvSpPr>
          <p:spPr>
            <a:xfrm>
              <a:off x="4620236" y="206156"/>
              <a:ext cx="1278300" cy="6087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panose="02020603050405020304"/>
                <a:buNone/>
              </a:pPr>
              <a:r>
                <a:rPr lang="en-US" sz="20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Review 3</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 name="Google Shape;188;p15"/>
            <p:cNvSpPr/>
            <p:nvPr/>
          </p:nvSpPr>
          <p:spPr>
            <a:xfrm>
              <a:off x="3341915" y="811638"/>
              <a:ext cx="1278300" cy="2637900"/>
            </a:xfrm>
            <a:prstGeom prst="wedgeRectCallout">
              <a:avLst>
                <a:gd name="adj1" fmla="val 62500"/>
                <a:gd name="adj2" fmla="val 20830"/>
              </a:avLst>
            </a:prstGeom>
            <a:solidFill>
              <a:srgbClr val="F4F6D9"/>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9" name="Google Shape;189;p15"/>
            <p:cNvSpPr txBox="1"/>
            <p:nvPr/>
          </p:nvSpPr>
          <p:spPr>
            <a:xfrm>
              <a:off x="3426211" y="811646"/>
              <a:ext cx="1194000" cy="2637900"/>
            </a:xfrm>
            <a:prstGeom prst="rect">
              <a:avLst/>
            </a:prstGeom>
            <a:noFill/>
            <a:ln>
              <a:noFill/>
            </a:ln>
          </p:spPr>
          <p:txBody>
            <a:bodyPr spcFirstLastPara="1" wrap="square" lIns="50800" tIns="50800" rIns="50800" bIns="50800" anchor="t" anchorCtr="0">
              <a:noAutofit/>
            </a:bodyPr>
            <a:lstStyle/>
            <a:p>
              <a:pPr marL="0" lvl="0" indent="0" algn="ctr" rtl="0">
                <a:spcBef>
                  <a:spcPts val="0"/>
                </a:spcBef>
                <a:spcAft>
                  <a:spcPts val="0"/>
                </a:spcAft>
                <a:buClr>
                  <a:schemeClr val="dk1"/>
                </a:buClr>
                <a:buSzPts val="1600"/>
                <a:buFont typeface="Times New Roman" panose="02020603050405020304"/>
                <a:buNone/>
              </a:pPr>
              <a:r>
                <a:rPr 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Briefing the problem statement and workflow timeline.</a:t>
              </a:r>
              <a:endParaRPr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560"/>
                </a:spcBef>
                <a:spcAft>
                  <a:spcPts val="0"/>
                </a:spcAft>
                <a:buClr>
                  <a:srgbClr val="000000"/>
                </a:buClr>
                <a:buSzPts val="1600"/>
                <a:buFont typeface="Times New Roman" panose="02020603050405020304"/>
                <a:buNone/>
              </a:pP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r>
                <a:rPr lang="en-US"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31/01/26</a:t>
              </a:r>
              <a:endParaRPr sz="14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90" name="Google Shape;190;p15"/>
            <p:cNvSpPr/>
            <p:nvPr/>
          </p:nvSpPr>
          <p:spPr>
            <a:xfrm>
              <a:off x="3341915" y="304364"/>
              <a:ext cx="1278300" cy="507300"/>
            </a:xfrm>
            <a:prstGeom prst="rect">
              <a:avLst/>
            </a:prstGeom>
            <a:solidFill>
              <a:srgbClr val="599BD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1" name="Google Shape;191;p15"/>
            <p:cNvSpPr txBox="1"/>
            <p:nvPr/>
          </p:nvSpPr>
          <p:spPr>
            <a:xfrm>
              <a:off x="3341915" y="304364"/>
              <a:ext cx="1278300" cy="5073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panose="02020603050405020304"/>
                <a:buNone/>
              </a:pPr>
              <a:r>
                <a:rPr lang="en-US" sz="20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Review 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 name="Google Shape;192;p15"/>
            <p:cNvSpPr/>
            <p:nvPr/>
          </p:nvSpPr>
          <p:spPr>
            <a:xfrm>
              <a:off x="2063594" y="811638"/>
              <a:ext cx="1278300" cy="2434800"/>
            </a:xfrm>
            <a:prstGeom prst="wedgeRectCallout">
              <a:avLst>
                <a:gd name="adj1" fmla="val 62500"/>
                <a:gd name="adj2" fmla="val 20830"/>
              </a:avLst>
            </a:prstGeom>
            <a:solidFill>
              <a:srgbClr val="FAEAE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3" name="Google Shape;193;p15"/>
            <p:cNvSpPr txBox="1"/>
            <p:nvPr/>
          </p:nvSpPr>
          <p:spPr>
            <a:xfrm>
              <a:off x="2144722" y="811638"/>
              <a:ext cx="1116000" cy="2434800"/>
            </a:xfrm>
            <a:prstGeom prst="rect">
              <a:avLst/>
            </a:prstGeom>
            <a:noFill/>
            <a:ln>
              <a:noFill/>
            </a:ln>
          </p:spPr>
          <p:txBody>
            <a:bodyPr spcFirstLastPara="1" wrap="square" lIns="50800" tIns="50800" rIns="50800" bIns="50800" anchor="t" anchorCtr="0">
              <a:noAutofit/>
            </a:bodyPr>
            <a:lstStyle/>
            <a:p>
              <a:pPr marL="0" marR="0" lvl="0" indent="0" algn="ctr" rtl="0">
                <a:spcBef>
                  <a:spcPts val="0"/>
                </a:spcBef>
                <a:spcAft>
                  <a:spcPts val="0"/>
                </a:spcAft>
                <a:buClr>
                  <a:srgbClr val="000000"/>
                </a:buClr>
                <a:buSzPts val="1600"/>
                <a:buFont typeface="Times New Roman" panose="02020603050405020304"/>
                <a:buNone/>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Overview of the company and role and briefing the problem statement and workflow timeline.</a:t>
              </a: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ct val="90000"/>
                </a:lnSpc>
                <a:spcBef>
                  <a:spcPts val="560"/>
                </a:spcBef>
                <a:buSzPts val="1600"/>
              </a:pPr>
              <a:r>
                <a:rPr lang="en-US" sz="1600" b="1" dirty="0">
                  <a:latin typeface="Times New Roman" panose="02020603050405020304"/>
                  <a:ea typeface="Times New Roman" panose="02020603050405020304"/>
                  <a:cs typeface="Times New Roman" panose="02020603050405020304"/>
                  <a:sym typeface="Times New Roman" panose="02020603050405020304"/>
                </a:rPr>
                <a:t>23/01/26</a:t>
              </a:r>
              <a:endParaRPr lang="en-US" b="1"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000000"/>
                </a:buClr>
                <a:buSzPts val="1600"/>
                <a:buFont typeface="Times New Roman" panose="02020603050405020304"/>
                <a:buNone/>
              </a:pP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4" name="Google Shape;194;p15"/>
            <p:cNvSpPr/>
            <p:nvPr/>
          </p:nvSpPr>
          <p:spPr>
            <a:xfrm>
              <a:off x="2063594" y="405819"/>
              <a:ext cx="1278300" cy="405900"/>
            </a:xfrm>
            <a:prstGeom prst="rect">
              <a:avLst/>
            </a:prstGeom>
            <a:solidFill>
              <a:srgbClr val="70AD4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 name="Google Shape;195;p15"/>
            <p:cNvSpPr txBox="1"/>
            <p:nvPr/>
          </p:nvSpPr>
          <p:spPr>
            <a:xfrm>
              <a:off x="2063594" y="405819"/>
              <a:ext cx="1278300" cy="4059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panose="02020603050405020304"/>
                <a:buNone/>
              </a:pPr>
              <a:r>
                <a:rPr lang="en-US" sz="20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Review 1</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6" name="Google Shape;206;p27"/>
          <p:cNvSpPr txBox="1">
            <a:spLocks noGrp="1"/>
          </p:cNvSpPr>
          <p:nvPr>
            <p:ph type="title"/>
          </p:nvPr>
        </p:nvSpPr>
        <p:spPr>
          <a:xfrm>
            <a:off x="556350" y="365125"/>
            <a:ext cx="10515600" cy="596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ct val="57000"/>
              <a:buFont typeface="Times New Roman" panose="02020603050405020304"/>
              <a:buNone/>
            </a:pPr>
            <a:r>
              <a:rPr lang="en-US" sz="3335" b="1">
                <a:solidFill>
                  <a:srgbClr val="2F5496"/>
                </a:solidFill>
                <a:latin typeface="Times New Roman" panose="02020603050405020304"/>
                <a:ea typeface="Times New Roman" panose="02020603050405020304"/>
                <a:cs typeface="Times New Roman" panose="02020603050405020304"/>
                <a:sym typeface="Times New Roman" panose="02020603050405020304"/>
              </a:rPr>
              <a:t>Github Link:</a:t>
            </a:r>
            <a:endParaRPr lang="en-US" sz="3335"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 name="Google Shape;20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08" name="Google Shape;208;p27"/>
          <p:cNvSpPr/>
          <p:nvPr/>
        </p:nvSpPr>
        <p:spPr>
          <a:xfrm>
            <a:off x="772500" y="2605400"/>
            <a:ext cx="10647000" cy="15030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4400">
                <a:solidFill>
                  <a:srgbClr val="0070C0"/>
                </a:solidFill>
                <a:sym typeface="+mn-ea"/>
              </a:rPr>
              <a:t>https://github.com/chirag7823/Internship</a:t>
            </a:r>
            <a:endParaRPr sz="1900">
              <a:latin typeface="Calibri" panose="020F0502020204030204"/>
              <a:ea typeface="Calibri" panose="020F0502020204030204"/>
              <a:cs typeface="Calibri" panose="020F0502020204030204"/>
              <a:sym typeface="Calibri" panose="020F0502020204030204"/>
            </a:endParaRPr>
          </a:p>
        </p:txBody>
      </p:sp>
      <p:sp>
        <p:nvSpPr>
          <p:cNvPr id="209" name="Google Shape;209;p27"/>
          <p:cNvSpPr/>
          <p:nvPr/>
        </p:nvSpPr>
        <p:spPr>
          <a:xfrm rot="-1971703">
            <a:off x="8400073" y="3707221"/>
            <a:ext cx="702157" cy="949717"/>
          </a:xfrm>
          <a:prstGeom prst="upArrow">
            <a:avLst>
              <a:gd name="adj1" fmla="val 49786"/>
              <a:gd name="adj2" fmla="val 7886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7"/>
          <p:cNvSpPr txBox="1">
            <a:spLocks noGrp="1"/>
          </p:cNvSpPr>
          <p:nvPr>
            <p:ph type="body" idx="1"/>
          </p:nvPr>
        </p:nvSpPr>
        <p:spPr>
          <a:xfrm>
            <a:off x="838200" y="2547258"/>
            <a:ext cx="10515600" cy="121484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A71180"/>
              </a:buClr>
              <a:buSzPts val="6600"/>
              <a:buNone/>
            </a:pPr>
            <a:r>
              <a:rPr lang="en-US" sz="6600">
                <a:solidFill>
                  <a:srgbClr val="A71180"/>
                </a:solidFill>
                <a:latin typeface="Times New Roman" panose="02020603050405020304"/>
                <a:ea typeface="Times New Roman" panose="02020603050405020304"/>
                <a:cs typeface="Times New Roman" panose="02020603050405020304"/>
                <a:sym typeface="Times New Roman" panose="02020603050405020304"/>
              </a:rPr>
              <a:t>Thank you !!</a:t>
            </a:r>
            <a:endParaRPr lang="en-US" sz="6600">
              <a:solidFill>
                <a:srgbClr val="A7118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8" name="Google Shape;20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6"/>
          <p:cNvSpPr txBox="1">
            <a:spLocks noGrp="1"/>
          </p:cNvSpPr>
          <p:nvPr>
            <p:ph type="body" idx="1"/>
          </p:nvPr>
        </p:nvSpPr>
        <p:spPr>
          <a:xfrm>
            <a:off x="0" y="0"/>
            <a:ext cx="12192000" cy="6858000"/>
          </a:xfrm>
          <a:prstGeom prst="rect">
            <a:avLst/>
          </a:prstGeom>
          <a:solidFill>
            <a:srgbClr val="1F3864"/>
          </a:solid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600"/>
              <a:buNone/>
            </a:pPr>
            <a:endParaRPr sz="6600">
              <a:solidFill>
                <a:srgbClr val="FFFF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1000"/>
              </a:spcBef>
              <a:spcAft>
                <a:spcPts val="0"/>
              </a:spcAft>
              <a:buClr>
                <a:srgbClr val="FFFF00"/>
              </a:buClr>
              <a:buSzPts val="6600"/>
              <a:buNone/>
            </a:pPr>
            <a:r>
              <a:rPr lang="en-US" sz="6600">
                <a:solidFill>
                  <a:srgbClr val="FFFF00"/>
                </a:solidFill>
                <a:latin typeface="Times New Roman" panose="02020603050405020304"/>
                <a:ea typeface="Times New Roman" panose="02020603050405020304"/>
                <a:cs typeface="Times New Roman" panose="02020603050405020304"/>
                <a:sym typeface="Times New Roman" panose="02020603050405020304"/>
              </a:rPr>
              <a:t>  </a:t>
            </a:r>
            <a:r>
              <a:rPr lang="en-US" sz="6600">
                <a:solidFill>
                  <a:srgbClr val="F7CAAC"/>
                </a:solidFill>
                <a:latin typeface="Times New Roman" panose="02020603050405020304"/>
                <a:ea typeface="Times New Roman" panose="02020603050405020304"/>
                <a:cs typeface="Times New Roman" panose="02020603050405020304"/>
                <a:sym typeface="Times New Roman" panose="02020603050405020304"/>
              </a:rPr>
              <a:t>Q&amp;A</a:t>
            </a:r>
            <a:endParaRPr lang="en-US" sz="6600">
              <a:solidFill>
                <a:srgbClr val="F7CAAC"/>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1000"/>
              </a:spcBef>
              <a:spcAft>
                <a:spcPts val="0"/>
              </a:spcAft>
              <a:buClr>
                <a:schemeClr val="dk1"/>
              </a:buClr>
              <a:buSzPts val="6600"/>
              <a:buNone/>
            </a:pPr>
            <a:endParaRPr sz="6600">
              <a:solidFill>
                <a:srgbClr val="A7118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 name="Google Shape;2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panose="02020603050405020304"/>
                <a:ea typeface="Times New Roman" panose="02020603050405020304"/>
                <a:cs typeface="Times New Roman" panose="02020603050405020304"/>
                <a:sym typeface="Times New Roman" panose="02020603050405020304"/>
              </a:rPr>
            </a:fld>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215" name="Google Shape;215;p16" descr="bd04924_"/>
          <p:cNvPicPr preferRelativeResize="0"/>
          <p:nvPr/>
        </p:nvPicPr>
        <p:blipFill rotWithShape="1">
          <a:blip r:embed="rId1"/>
          <a:srcRect/>
          <a:stretch>
            <a:fillRect/>
          </a:stretch>
        </p:blipFill>
        <p:spPr>
          <a:xfrm>
            <a:off x="5005253" y="2150340"/>
            <a:ext cx="2841170" cy="3832416"/>
          </a:xfrm>
          <a:prstGeom prst="rect">
            <a:avLst/>
          </a:prstGeom>
          <a:noFill/>
          <a:ln>
            <a:noFill/>
          </a:ln>
        </p:spPr>
      </p:pic>
    </p:spTree>
  </p:cSld>
  <p:clrMapOvr>
    <a:masterClrMapping/>
  </p:clrMapOvr>
</p:sld>
</file>

<file path=ppt/tags/tag1.xml><?xml version="1.0" encoding="utf-8"?>
<p:tagLst xmlns:p="http://schemas.openxmlformats.org/presentationml/2006/main">
  <p:tag name="TABLE_ENDDRAG_ORIGIN_RECT" val="437*151"/>
  <p:tag name="TABLE_ENDDRAG_RECT" val="29*113*437*151"/>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4829</Words>
  <Application>WPS Presentation</Application>
  <PresentationFormat>Widescreen</PresentationFormat>
  <Paragraphs>227</Paragraphs>
  <Slides>16</Slides>
  <Notes>16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SimSun</vt:lpstr>
      <vt:lpstr>Wingdings</vt:lpstr>
      <vt:lpstr>Arial</vt:lpstr>
      <vt:lpstr>Calibri</vt:lpstr>
      <vt:lpstr>Cambria</vt:lpstr>
      <vt:lpstr>Verdana</vt:lpstr>
      <vt:lpstr>Times New Roman</vt:lpstr>
      <vt:lpstr>Times New Roman</vt:lpstr>
      <vt:lpstr>Microsoft YaHei</vt:lpstr>
      <vt:lpstr>Arial Unicode MS</vt:lpstr>
      <vt:lpstr>Cambria</vt:lpstr>
      <vt:lpstr>Tahoma</vt:lpstr>
      <vt:lpstr>Office Theme</vt:lpstr>
      <vt:lpstr>PowerPoint 演示文稿</vt:lpstr>
      <vt:lpstr>PowerPoint 演示文稿</vt:lpstr>
      <vt:lpstr>PowerPoint 演示文稿</vt:lpstr>
      <vt:lpstr>Clients and Industries</vt:lpstr>
      <vt:lpstr>Working domain </vt:lpstr>
      <vt:lpstr>About  team and reporting Manager</vt:lpstr>
      <vt:lpstr>Challenges Faced in Internship</vt:lpstr>
      <vt:lpstr>Objectives of the work</vt:lpstr>
      <vt:lpstr>Proposed System </vt:lpstr>
      <vt:lpstr>Problem Statement</vt:lpstr>
      <vt:lpstr>System Requirements</vt:lpstr>
      <vt:lpstr>Advantages of Proposed System</vt:lpstr>
      <vt:lpstr>PowerPoint 演示文稿</vt:lpstr>
      <vt:lpstr>Github Link:</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Gopalakrishnan N-Asst. Prof-CIV</dc:creator>
  <cp:lastModifiedBy>Chirag BA</cp:lastModifiedBy>
  <cp:revision>6</cp:revision>
  <dcterms:created xsi:type="dcterms:W3CDTF">2022-10-14T07:18:00Z</dcterms:created>
  <dcterms:modified xsi:type="dcterms:W3CDTF">2026-04-22T15:14:00Z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E84716D8EFA84F69A3F8860780B41437_12</vt:lpwstr>
  </property>
  <property fmtid="{D5CDD505-2E9C-101B-9397-08002B2CF9AE}" pid="3" name="KSOProductBuildVer">
    <vt:lpwstr>2057-12.2.0.23201</vt:lpwstr>
  </property>
</Properties>
</file>